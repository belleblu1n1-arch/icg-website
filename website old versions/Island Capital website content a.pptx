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3" r:id="rId1"/>
  </p:sldMasterIdLst>
  <p:notesMasterIdLst>
    <p:notesMasterId r:id="rId18"/>
  </p:notesMasterIdLst>
  <p:sldIdLst>
    <p:sldId id="691" r:id="rId2"/>
    <p:sldId id="693" r:id="rId3"/>
    <p:sldId id="680" r:id="rId4"/>
    <p:sldId id="695" r:id="rId5"/>
    <p:sldId id="696" r:id="rId6"/>
    <p:sldId id="679" r:id="rId7"/>
    <p:sldId id="684" r:id="rId8"/>
    <p:sldId id="689" r:id="rId9"/>
    <p:sldId id="690" r:id="rId10"/>
    <p:sldId id="694" r:id="rId11"/>
    <p:sldId id="687" r:id="rId12"/>
    <p:sldId id="651" r:id="rId13"/>
    <p:sldId id="688" r:id="rId14"/>
    <p:sldId id="676" r:id="rId15"/>
    <p:sldId id="668" r:id="rId16"/>
    <p:sldId id="69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E47"/>
    <a:srgbClr val="7EDFFA"/>
    <a:srgbClr val="273C18"/>
    <a:srgbClr val="213315"/>
    <a:srgbClr val="002D86"/>
    <a:srgbClr val="403B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09" autoAdjust="0"/>
    <p:restoredTop sz="95293" autoAdjust="0"/>
  </p:normalViewPr>
  <p:slideViewPr>
    <p:cSldViewPr snapToGrid="0">
      <p:cViewPr varScale="1">
        <p:scale>
          <a:sx n="54" d="100"/>
          <a:sy n="54" d="100"/>
        </p:scale>
        <p:origin x="62" y="799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77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a Lan" userId="945ba5853d06cfb5" providerId="LiveId" clId="{4BF6D3D9-5CF5-48F0-AB96-70EE9B74F7F8}"/>
    <pc:docChg chg="custSel addSld modSld">
      <pc:chgData name="Isa Lan" userId="945ba5853d06cfb5" providerId="LiveId" clId="{4BF6D3D9-5CF5-48F0-AB96-70EE9B74F7F8}" dt="2026-03-26T23:15:21.613" v="56" actId="1076"/>
      <pc:docMkLst>
        <pc:docMk/>
      </pc:docMkLst>
      <pc:sldChg chg="addSp delSp modSp mod">
        <pc:chgData name="Isa Lan" userId="945ba5853d06cfb5" providerId="LiveId" clId="{4BF6D3D9-5CF5-48F0-AB96-70EE9B74F7F8}" dt="2026-03-26T22:56:53.575" v="35" actId="14100"/>
        <pc:sldMkLst>
          <pc:docMk/>
          <pc:sldMk cId="795794364" sldId="680"/>
        </pc:sldMkLst>
        <pc:spChg chg="del">
          <ac:chgData name="Isa Lan" userId="945ba5853d06cfb5" providerId="LiveId" clId="{4BF6D3D9-5CF5-48F0-AB96-70EE9B74F7F8}" dt="2026-03-26T22:55:03.357" v="21" actId="478"/>
          <ac:spMkLst>
            <pc:docMk/>
            <pc:sldMk cId="795794364" sldId="680"/>
            <ac:spMk id="2" creationId="{378255D6-2536-35D0-7BC4-7AAA34CDADC0}"/>
          </ac:spMkLst>
        </pc:spChg>
        <pc:spChg chg="del">
          <ac:chgData name="Isa Lan" userId="945ba5853d06cfb5" providerId="LiveId" clId="{4BF6D3D9-5CF5-48F0-AB96-70EE9B74F7F8}" dt="2026-03-26T22:54:55.604" v="20" actId="478"/>
          <ac:spMkLst>
            <pc:docMk/>
            <pc:sldMk cId="795794364" sldId="680"/>
            <ac:spMk id="3" creationId="{549CD9DF-7A0D-4941-260F-70187CEF9A48}"/>
          </ac:spMkLst>
        </pc:spChg>
        <pc:spChg chg="del">
          <ac:chgData name="Isa Lan" userId="945ba5853d06cfb5" providerId="LiveId" clId="{4BF6D3D9-5CF5-48F0-AB96-70EE9B74F7F8}" dt="2026-03-26T22:55:35.478" v="30" actId="478"/>
          <ac:spMkLst>
            <pc:docMk/>
            <pc:sldMk cId="795794364" sldId="680"/>
            <ac:spMk id="4" creationId="{F23D2D43-7D75-A927-F596-82685827C867}"/>
          </ac:spMkLst>
        </pc:spChg>
        <pc:spChg chg="add del mod">
          <ac:chgData name="Isa Lan" userId="945ba5853d06cfb5" providerId="LiveId" clId="{4BF6D3D9-5CF5-48F0-AB96-70EE9B74F7F8}" dt="2026-03-26T22:55:07.930" v="22" actId="22"/>
          <ac:spMkLst>
            <pc:docMk/>
            <pc:sldMk cId="795794364" sldId="680"/>
            <ac:spMk id="6" creationId="{5BBABC25-53E9-54E6-DEE3-09F062E67887}"/>
          </ac:spMkLst>
        </pc:spChg>
        <pc:spChg chg="add del mod">
          <ac:chgData name="Isa Lan" userId="945ba5853d06cfb5" providerId="LiveId" clId="{4BF6D3D9-5CF5-48F0-AB96-70EE9B74F7F8}" dt="2026-03-26T22:55:11.216" v="23" actId="478"/>
          <ac:spMkLst>
            <pc:docMk/>
            <pc:sldMk cId="795794364" sldId="680"/>
            <ac:spMk id="8" creationId="{740F0C56-9E07-ED58-F81D-F77BB8E6D7C0}"/>
          </ac:spMkLst>
        </pc:spChg>
        <pc:picChg chg="add mod ord">
          <ac:chgData name="Isa Lan" userId="945ba5853d06cfb5" providerId="LiveId" clId="{4BF6D3D9-5CF5-48F0-AB96-70EE9B74F7F8}" dt="2026-03-26T22:56:53.575" v="35" actId="14100"/>
          <ac:picMkLst>
            <pc:docMk/>
            <pc:sldMk cId="795794364" sldId="680"/>
            <ac:picMk id="10" creationId="{A9648095-2E6D-BA07-1839-0106429B29E8}"/>
          </ac:picMkLst>
        </pc:picChg>
      </pc:sldChg>
      <pc:sldChg chg="addSp delSp modSp new mod">
        <pc:chgData name="Isa Lan" userId="945ba5853d06cfb5" providerId="LiveId" clId="{4BF6D3D9-5CF5-48F0-AB96-70EE9B74F7F8}" dt="2026-03-26T03:10:00.498" v="19" actId="20577"/>
        <pc:sldMkLst>
          <pc:docMk/>
          <pc:sldMk cId="4096325246" sldId="693"/>
        </pc:sldMkLst>
        <pc:spChg chg="del">
          <ac:chgData name="Isa Lan" userId="945ba5853d06cfb5" providerId="LiveId" clId="{4BF6D3D9-5CF5-48F0-AB96-70EE9B74F7F8}" dt="2026-03-26T02:14:56.274" v="2" actId="478"/>
          <ac:spMkLst>
            <pc:docMk/>
            <pc:sldMk cId="4096325246" sldId="693"/>
            <ac:spMk id="2" creationId="{0C3CFB45-2DB5-3C95-F81A-67E68CA796EE}"/>
          </ac:spMkLst>
        </pc:spChg>
        <pc:spChg chg="del">
          <ac:chgData name="Isa Lan" userId="945ba5853d06cfb5" providerId="LiveId" clId="{4BF6D3D9-5CF5-48F0-AB96-70EE9B74F7F8}" dt="2026-03-26T02:14:54.759" v="1" actId="478"/>
          <ac:spMkLst>
            <pc:docMk/>
            <pc:sldMk cId="4096325246" sldId="693"/>
            <ac:spMk id="3" creationId="{C1E0ED1E-883A-DBEF-4521-0FE57CBA4684}"/>
          </ac:spMkLst>
        </pc:spChg>
        <pc:spChg chg="add mod">
          <ac:chgData name="Isa Lan" userId="945ba5853d06cfb5" providerId="LiveId" clId="{4BF6D3D9-5CF5-48F0-AB96-70EE9B74F7F8}" dt="2026-03-26T03:10:00.498" v="19" actId="20577"/>
          <ac:spMkLst>
            <pc:docMk/>
            <pc:sldMk cId="4096325246" sldId="693"/>
            <ac:spMk id="5" creationId="{940E8791-999C-46C7-929D-1E2313C5E309}"/>
          </ac:spMkLst>
        </pc:spChg>
      </pc:sldChg>
      <pc:sldChg chg="delSp new mod">
        <pc:chgData name="Isa Lan" userId="945ba5853d06cfb5" providerId="LiveId" clId="{4BF6D3D9-5CF5-48F0-AB96-70EE9B74F7F8}" dt="2026-03-26T22:58:41.695" v="38" actId="478"/>
        <pc:sldMkLst>
          <pc:docMk/>
          <pc:sldMk cId="806593378" sldId="694"/>
        </pc:sldMkLst>
        <pc:spChg chg="del">
          <ac:chgData name="Isa Lan" userId="945ba5853d06cfb5" providerId="LiveId" clId="{4BF6D3D9-5CF5-48F0-AB96-70EE9B74F7F8}" dt="2026-03-26T22:58:41.695" v="38" actId="478"/>
          <ac:spMkLst>
            <pc:docMk/>
            <pc:sldMk cId="806593378" sldId="694"/>
            <ac:spMk id="2" creationId="{20908613-B942-EEED-C080-1C476EF010DA}"/>
          </ac:spMkLst>
        </pc:spChg>
        <pc:spChg chg="del">
          <ac:chgData name="Isa Lan" userId="945ba5853d06cfb5" providerId="LiveId" clId="{4BF6D3D9-5CF5-48F0-AB96-70EE9B74F7F8}" dt="2026-03-26T22:58:35.876" v="37" actId="478"/>
          <ac:spMkLst>
            <pc:docMk/>
            <pc:sldMk cId="806593378" sldId="694"/>
            <ac:spMk id="3" creationId="{85419C00-D0D7-7DBD-2385-75666B7FED51}"/>
          </ac:spMkLst>
        </pc:spChg>
      </pc:sldChg>
      <pc:sldChg chg="addSp delSp modSp new mod">
        <pc:chgData name="Isa Lan" userId="945ba5853d06cfb5" providerId="LiveId" clId="{4BF6D3D9-5CF5-48F0-AB96-70EE9B74F7F8}" dt="2026-03-26T22:59:13.698" v="47" actId="1076"/>
        <pc:sldMkLst>
          <pc:docMk/>
          <pc:sldMk cId="237285618" sldId="695"/>
        </pc:sldMkLst>
        <pc:spChg chg="del">
          <ac:chgData name="Isa Lan" userId="945ba5853d06cfb5" providerId="LiveId" clId="{4BF6D3D9-5CF5-48F0-AB96-70EE9B74F7F8}" dt="2026-03-26T22:58:54.407" v="40" actId="478"/>
          <ac:spMkLst>
            <pc:docMk/>
            <pc:sldMk cId="237285618" sldId="695"/>
            <ac:spMk id="2" creationId="{F98EF682-F291-854C-8E3E-4BA7B027548C}"/>
          </ac:spMkLst>
        </pc:spChg>
        <pc:spChg chg="del">
          <ac:chgData name="Isa Lan" userId="945ba5853d06cfb5" providerId="LiveId" clId="{4BF6D3D9-5CF5-48F0-AB96-70EE9B74F7F8}" dt="2026-03-26T22:58:57.775" v="41" actId="478"/>
          <ac:spMkLst>
            <pc:docMk/>
            <pc:sldMk cId="237285618" sldId="695"/>
            <ac:spMk id="3" creationId="{6247A8E1-A041-35C0-9F58-C6A77B898E70}"/>
          </ac:spMkLst>
        </pc:spChg>
        <pc:picChg chg="add mod">
          <ac:chgData name="Isa Lan" userId="945ba5853d06cfb5" providerId="LiveId" clId="{4BF6D3D9-5CF5-48F0-AB96-70EE9B74F7F8}" dt="2026-03-26T22:59:13.698" v="47" actId="1076"/>
          <ac:picMkLst>
            <pc:docMk/>
            <pc:sldMk cId="237285618" sldId="695"/>
            <ac:picMk id="5" creationId="{8470443F-A562-8E59-B899-263B08814B2D}"/>
          </ac:picMkLst>
        </pc:picChg>
      </pc:sldChg>
      <pc:sldChg chg="addSp delSp modSp new mod">
        <pc:chgData name="Isa Lan" userId="945ba5853d06cfb5" providerId="LiveId" clId="{4BF6D3D9-5CF5-48F0-AB96-70EE9B74F7F8}" dt="2026-03-26T23:15:21.613" v="56" actId="1076"/>
        <pc:sldMkLst>
          <pc:docMk/>
          <pc:sldMk cId="3359774692" sldId="696"/>
        </pc:sldMkLst>
        <pc:spChg chg="del">
          <ac:chgData name="Isa Lan" userId="945ba5853d06cfb5" providerId="LiveId" clId="{4BF6D3D9-5CF5-48F0-AB96-70EE9B74F7F8}" dt="2026-03-26T23:14:41.941" v="50" actId="478"/>
          <ac:spMkLst>
            <pc:docMk/>
            <pc:sldMk cId="3359774692" sldId="696"/>
            <ac:spMk id="2" creationId="{A5435ADF-8597-7E30-943E-136DBE264872}"/>
          </ac:spMkLst>
        </pc:spChg>
        <pc:spChg chg="del">
          <ac:chgData name="Isa Lan" userId="945ba5853d06cfb5" providerId="LiveId" clId="{4BF6D3D9-5CF5-48F0-AB96-70EE9B74F7F8}" dt="2026-03-26T23:14:40.169" v="49" actId="478"/>
          <ac:spMkLst>
            <pc:docMk/>
            <pc:sldMk cId="3359774692" sldId="696"/>
            <ac:spMk id="3" creationId="{3A9A35EC-16B4-B55C-B60C-1698DA8CB755}"/>
          </ac:spMkLst>
        </pc:spChg>
        <pc:picChg chg="add mod">
          <ac:chgData name="Isa Lan" userId="945ba5853d06cfb5" providerId="LiveId" clId="{4BF6D3D9-5CF5-48F0-AB96-70EE9B74F7F8}" dt="2026-03-26T23:14:51.624" v="54" actId="1076"/>
          <ac:picMkLst>
            <pc:docMk/>
            <pc:sldMk cId="3359774692" sldId="696"/>
            <ac:picMk id="5" creationId="{60F5F8A6-5E58-E599-ED6E-A82CC4B28721}"/>
          </ac:picMkLst>
        </pc:picChg>
        <pc:picChg chg="add mod">
          <ac:chgData name="Isa Lan" userId="945ba5853d06cfb5" providerId="LiveId" clId="{4BF6D3D9-5CF5-48F0-AB96-70EE9B74F7F8}" dt="2026-03-26T23:15:21.613" v="56" actId="1076"/>
          <ac:picMkLst>
            <pc:docMk/>
            <pc:sldMk cId="3359774692" sldId="696"/>
            <ac:picMk id="7" creationId="{E5BB9FF8-A821-395D-3A28-9BE3A2840E7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9964528-3FDA-4475-A55F-4C1868C93AC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  <a:ea typeface="ＭＳ Ｐゴシック" pitchFamily="34" charset="-128"/>
                <a:cs typeface="+mn-cs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F522B0-5A05-495E-B745-75B003C4683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CE18F2FA-7FA7-47F6-B110-F9ECB57F3A28}" type="datetime1">
              <a:rPr lang="en-US" altLang="en-US"/>
              <a:pPr>
                <a:defRPr/>
              </a:pPr>
              <a:t>3/26/2026</a:t>
            </a:fld>
            <a:endParaRPr lang="en-US" alt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45E14FC-BC62-4AE7-96E6-BF70324992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alt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3902F28-A6E5-4EAB-B5D3-36BF37DD3E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180227-ACF7-41EE-9F24-F038256DB23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  <a:ea typeface="ＭＳ Ｐゴシック" pitchFamily="34" charset="-128"/>
                <a:cs typeface="+mn-cs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7EFF2C-372E-4E7C-B49B-BA6FB22B17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24129D1B-662E-4784-9250-876C866FE90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C3366-43BB-CDBC-BA2C-FFCED0DC28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6D607C-399A-0FAF-B405-22679D713C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590EC4-A136-2586-B4D2-429EEC1B4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F2FD216-5B56-4F89-9733-3F2F30140562}" type="datetime1">
              <a:rPr lang="en-US" altLang="en-US" smtClean="0"/>
              <a:pPr>
                <a:defRPr/>
              </a:pPr>
              <a:t>3/26/2026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EC9633-02B2-CB6F-CF70-D3988EB34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F0C64-C587-7E62-8D39-8CDC0F74B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EF0A95A-375B-4F7A-AB78-753092178FD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86653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2DA26-1080-6FDC-A2DB-2281537B8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4F9B48-9EA7-8BE6-81A4-46885C1D37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8518A8-862A-176F-7EDE-58AB6FDC7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FED865E-CF20-4677-9FF7-9CFF5A0C0E96}" type="datetime1">
              <a:rPr lang="en-US" altLang="en-US" smtClean="0"/>
              <a:pPr>
                <a:defRPr/>
              </a:pPr>
              <a:t>3/26/2026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6D442C-CCD6-40AD-77F6-CC5F95BCB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C3612-867D-9D52-F71C-78A708D63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604BF6A-40FC-4C2F-AE2A-46769E53A1E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31808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69DAB-CDD2-44BC-1571-05AAEF43C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7B478-FC69-FBDE-8C32-99AB865740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A56C60-0179-709E-9F25-854713522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BC290F7-CE3A-4D57-9482-7BDE8A6CAAAD}" type="datetime1">
              <a:rPr lang="en-US" altLang="en-US" smtClean="0"/>
              <a:pPr>
                <a:defRPr/>
              </a:pPr>
              <a:t>3/26/2026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EE17CC-F11C-3DB6-8851-40B0EBC5C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28079-6C5B-7F27-DD80-065DC463A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70EDC4-9AE3-4F22-AD00-0C8F95641203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5386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6CD95-C647-84F3-575B-8FED8E128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452ADC-AA24-4256-FD2A-F9F5CF1149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F96D6D-1A78-E3C0-50D4-D44623B8A7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D5BD93-D8FC-1359-4D05-E1D3482D7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ED7024F-83B3-466B-9A49-4DF482636C90}" type="datetime1">
              <a:rPr lang="en-US" altLang="en-US" smtClean="0"/>
              <a:pPr>
                <a:defRPr/>
              </a:pPr>
              <a:t>3/26/2026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3C86AE-91A1-4D7F-FF21-4386D1C8C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A0D306-9FF4-EEF3-D527-14DE09778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5A23C2-C32C-4B63-9416-81404F21270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34024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FD540-12AB-F36A-A9A1-335BD45A8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061787-092A-38B7-958B-43E8F0828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4EE1E5-D697-1EA6-D2A6-B131C973D5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47BE20-777D-7176-6323-A83297211A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AB31BD-7C13-DF02-D371-21FF9E4653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5A4E08-F4B1-646E-1367-6AE027CB6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86D23F-517C-487F-ADE1-6574F1D58A21}" type="datetime1">
              <a:rPr lang="en-US" altLang="en-US" smtClean="0"/>
              <a:pPr>
                <a:defRPr/>
              </a:pPr>
              <a:t>3/26/2026</a:t>
            </a:fld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B4F38C-39CD-F2DF-3765-C4652D2BD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B98E13-E12D-83F2-9BD3-DE095AEFE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6E051C5-9D3E-4CE6-A40B-839193DB0AD2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77889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93CF8-4546-2807-4409-BE57520C2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2DC6C3-2449-11D2-980D-9A4BAFF67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105B508-3906-4CF7-9BCA-1F06466F15F9}" type="datetime1">
              <a:rPr lang="en-US" altLang="en-US" smtClean="0"/>
              <a:pPr>
                <a:defRPr/>
              </a:pPr>
              <a:t>3/26/2026</a:t>
            </a:fld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D88CF6-2486-6F73-32DD-6F00B8ED8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A0149F-8A9D-5E30-9208-169A5D61E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34CD0C-54C6-4CAE-991F-C23CEEDE463E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831848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3EEC62-8FF4-0B89-2597-13116E9EA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31A4544-611F-4EBC-976B-62C0DEFFF813}" type="datetime1">
              <a:rPr lang="en-US" altLang="en-US" smtClean="0"/>
              <a:pPr>
                <a:defRPr/>
              </a:pPr>
              <a:t>3/26/2026</a:t>
            </a:fld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E20C93-6709-70D1-B12F-DAFCEB2E6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029DB4-B99F-A33B-DA32-381B78F6B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6A9314-2C4A-4F99-B182-BF3A15F2533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7552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CE011-DB40-6C11-20AE-3D8080167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DFC0E-4330-1DD1-0B3C-EB0204F1E1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F9983B-4CC6-9733-35F8-A819013D0E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827922-36FE-3675-0C75-C38BC2FC9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8051694-615A-41F0-BDE8-8DD22F19DB33}" type="datetime1">
              <a:rPr lang="en-US" altLang="en-US" smtClean="0"/>
              <a:pPr>
                <a:defRPr/>
              </a:pPr>
              <a:t>3/26/2026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E35D9D-698B-879D-9EE9-14ADBC739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0A996A-E8BD-D60A-B558-234B58669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21C284-58AA-4BEE-82A4-D1EB1E79C492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79130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10B92-4478-9999-3856-1C8FF21A9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ECC60E-44E3-92DC-0825-DC3CBAB07B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EA4B80-F301-E59E-D9BA-848BB1B6A5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E84B19-344E-E0AD-B631-6CE493BEF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DD8AFD3-0434-41EF-8644-C7E42D5A8BA0}" type="datetime1">
              <a:rPr lang="en-US" altLang="en-US" smtClean="0"/>
              <a:pPr>
                <a:defRPr/>
              </a:pPr>
              <a:t>3/26/2026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93B8CE-73B4-0406-2BCE-BDA6A87EC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B5C3E5-B79C-5A1C-B93E-C123A09C5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DAAE31-F5B8-4799-B45C-4EB87FB1FBE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0846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F3422-292A-A944-984E-88660F281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4F87A1-7657-85DF-1F52-C38F09683B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69E833-5037-252D-DC31-8A6AB4695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4C5896D-6D37-4183-906E-95511D893630}" type="datetime1">
              <a:rPr lang="en-US" altLang="en-US" smtClean="0"/>
              <a:pPr>
                <a:defRPr/>
              </a:pPr>
              <a:t>3/26/2026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69E459-6B1D-7CF5-49B7-581F05D43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D9022A-1DC4-606B-3D93-22FB9F8CD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59179C-C5E3-4390-99B3-5C566199083B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9516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A3BCDE-D5DD-5C3C-5FBD-9FCCB8FE87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199D36-B9B0-E0CC-954C-CEE6CB4231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4BABB-7E37-FD1D-A58C-D107EEEE0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4A8965-7F6A-4AE7-929E-FD5BAE3A4A55}" type="datetime1">
              <a:rPr lang="en-US" altLang="en-US" smtClean="0"/>
              <a:pPr>
                <a:defRPr/>
              </a:pPr>
              <a:t>3/26/2026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E06F70-7A6F-88B2-607F-23C0B0C48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EA4C0-CDBF-2E9D-6926-BBDA2D446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173186-124A-49A5-9BD3-A330ED2C9FE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4812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7BAE93-AEDA-775F-337B-B43EAB119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087D08-24D7-8E78-ACC2-A6D9BD3E91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C1E5E2-B320-4880-B6EA-1314697734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19B1F0-2DD7-4160-8078-37C289AE3EF8}" type="datetime1">
              <a:rPr lang="en-US" altLang="en-US" smtClean="0"/>
              <a:pPr>
                <a:defRPr/>
              </a:pPr>
              <a:t>3/26/2026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DC446E-52CC-3739-A591-EC05A5B10A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054DA5-F397-8495-EDAE-FC82B739F6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E757706-342B-4AA7-BF90-8063C586C4A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92648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mailto:info@IslandCap-g.com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hyperlink" Target="https://www.linkedin.com/in/isabellalan/" TargetMode="Externa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39E50-67D9-58FE-CDE4-F703FD181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logo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31A0B2-6ED3-F6EE-76A6-00069B7CB4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4502" y="2922364"/>
            <a:ext cx="5047926" cy="153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519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40E8791-999C-46C7-929D-1E2313C5E309}"/>
              </a:ext>
            </a:extLst>
          </p:cNvPr>
          <p:cNvSpPr txBox="1"/>
          <p:nvPr/>
        </p:nvSpPr>
        <p:spPr>
          <a:xfrm>
            <a:off x="925830" y="971550"/>
            <a:ext cx="1022985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dirty="0"/>
              <a:t>SENIOR LEADERSHIP EXPERIENCE BUILT IN LEADING FORTUNE 500 COMPANIES AND TOP‑TIER INSTITUTIONS</a:t>
            </a:r>
          </a:p>
          <a:p>
            <a:pPr algn="ctr"/>
            <a:endParaRPr lang="en-GB" sz="2400" dirty="0"/>
          </a:p>
          <a:p>
            <a:pPr algn="ctr"/>
            <a:r>
              <a:rPr lang="en-GB" sz="2400" dirty="0"/>
              <a:t>Strengthen decisions. Sharpen priorities. Improve performance. Deliver results.</a:t>
            </a:r>
          </a:p>
          <a:p>
            <a:pPr algn="ctr"/>
            <a:endParaRPr lang="en-GB" sz="2400" dirty="0"/>
          </a:p>
          <a:p>
            <a:pPr algn="ctr"/>
            <a:endParaRPr lang="en-GB" sz="2400" dirty="0"/>
          </a:p>
          <a:p>
            <a:pPr algn="ctr"/>
            <a:r>
              <a:rPr lang="en-GB" sz="2400" dirty="0"/>
              <a:t>Senior finance leadership in close partnership with your leadership team from strategy through execution.</a:t>
            </a:r>
            <a:br>
              <a:rPr lang="en-GB" sz="2400" dirty="0"/>
            </a:br>
            <a:br>
              <a:rPr lang="en-GB" sz="2400" dirty="0"/>
            </a:br>
            <a:r>
              <a:rPr lang="en-GB" sz="2400" dirty="0"/>
              <a:t>We help you navigate growth, complexity, and uncertainty with greater clarity and confidence across markets, teams, and stakeholders.</a:t>
            </a:r>
          </a:p>
        </p:txBody>
      </p:sp>
    </p:spTree>
    <p:extLst>
      <p:ext uri="{BB962C8B-B14F-4D97-AF65-F5344CB8AC3E}">
        <p14:creationId xmlns:p14="http://schemas.microsoft.com/office/powerpoint/2010/main" val="4096325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48840-A588-B2D5-5406-46C39BE05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A9648095-2E6D-BA07-1839-0106429B29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5236" y="110836"/>
            <a:ext cx="10496204" cy="6747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794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470443F-A562-8E59-B899-263B08814B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240" y="71120"/>
            <a:ext cx="7599679" cy="671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85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0F5F8A6-5E58-E599-ED6E-A82CC4B287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2241" y="602330"/>
            <a:ext cx="7289520" cy="15211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5BB9FF8-A821-395D-3A28-9BE3A2840E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0954" y="2123440"/>
            <a:ext cx="6988811" cy="4120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7746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5C6E55-D5D0-A8B2-5C46-E8D0224325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192" y="580517"/>
            <a:ext cx="5044130" cy="1252651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SG" sz="4400" dirty="0"/>
              <a:t>Asia expert</a:t>
            </a:r>
          </a:p>
          <a:p>
            <a:pPr marL="0" indent="0">
              <a:buNone/>
            </a:pPr>
            <a:r>
              <a:rPr lang="en-SG" sz="2900" dirty="0"/>
              <a:t>Decades of expertise, in-market operation and regional management in Asia, Across Finance, Strategy, corporate structuring, Transformation, and Business Consulting.</a:t>
            </a:r>
            <a:endParaRPr lang="en-SG" sz="1400" dirty="0"/>
          </a:p>
          <a:p>
            <a:pPr marL="0" indent="0">
              <a:buNone/>
            </a:pPr>
            <a:endParaRPr lang="en-SG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2A5A50-B6D5-12DF-FC45-27B06C9DF220}"/>
              </a:ext>
            </a:extLst>
          </p:cNvPr>
          <p:cNvSpPr txBox="1"/>
          <p:nvPr/>
        </p:nvSpPr>
        <p:spPr>
          <a:xfrm>
            <a:off x="6858000" y="588085"/>
            <a:ext cx="4355024" cy="1252651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SG" sz="4400" dirty="0"/>
              <a:t>Global knowledge </a:t>
            </a:r>
          </a:p>
          <a:p>
            <a:r>
              <a:rPr lang="en-SG" sz="2600" dirty="0"/>
              <a:t>Global perspective and a strong network built over decades  working with MNCs, enterprises, family offices, and collaborating with diverse stakeholders and allies globally.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79B9B30-80BE-C933-6D3E-447953ACE5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690" y="2080056"/>
            <a:ext cx="10500360" cy="403118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7C013B8-5BF2-926F-37A8-6062507EB2B3}"/>
              </a:ext>
            </a:extLst>
          </p:cNvPr>
          <p:cNvSpPr txBox="1"/>
          <p:nvPr/>
        </p:nvSpPr>
        <p:spPr>
          <a:xfrm>
            <a:off x="6361669" y="4556760"/>
            <a:ext cx="1783080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SG" sz="3600" b="1" dirty="0"/>
              <a:t>25+</a:t>
            </a:r>
            <a:r>
              <a:rPr lang="en-SG" dirty="0"/>
              <a:t> </a:t>
            </a:r>
          </a:p>
          <a:p>
            <a:r>
              <a:rPr lang="en-SG" dirty="0"/>
              <a:t>Years in Business consulting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CC6D26-F2DE-317F-049A-FD26871C4D56}"/>
              </a:ext>
            </a:extLst>
          </p:cNvPr>
          <p:cNvSpPr txBox="1"/>
          <p:nvPr/>
        </p:nvSpPr>
        <p:spPr>
          <a:xfrm>
            <a:off x="8739109" y="4533900"/>
            <a:ext cx="1783080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SG" sz="3600" b="1" dirty="0"/>
              <a:t>40+</a:t>
            </a:r>
            <a:r>
              <a:rPr lang="en-SG" dirty="0"/>
              <a:t> </a:t>
            </a:r>
          </a:p>
          <a:p>
            <a:r>
              <a:rPr lang="en-US" altLang="zh-CN" dirty="0"/>
              <a:t>Countries managed</a:t>
            </a:r>
            <a:endParaRPr lang="en-SG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909E17-65A5-2BFA-8CDC-1BD1A1B8844E}"/>
              </a:ext>
            </a:extLst>
          </p:cNvPr>
          <p:cNvSpPr txBox="1"/>
          <p:nvPr/>
        </p:nvSpPr>
        <p:spPr>
          <a:xfrm>
            <a:off x="9974580" y="4499252"/>
            <a:ext cx="178308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5311150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1571B86-CBDF-328C-A13B-24E8E6FA3D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97" y="118553"/>
            <a:ext cx="10326541" cy="45726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3FF22D-6D7D-0763-FA28-B5FF23934F5D}"/>
              </a:ext>
            </a:extLst>
          </p:cNvPr>
          <p:cNvSpPr txBox="1"/>
          <p:nvPr/>
        </p:nvSpPr>
        <p:spPr>
          <a:xfrm>
            <a:off x="1624331" y="267629"/>
            <a:ext cx="8230523" cy="1077218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3200" dirty="0"/>
              <a:t>Exceptional Industry Reputation &amp; track records </a:t>
            </a:r>
          </a:p>
          <a:p>
            <a:r>
              <a:rPr lang="en-SG" sz="3200" dirty="0"/>
              <a:t>  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6D025E8-DAEC-FA8E-A14D-B113FBBFAD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520" y="2270866"/>
            <a:ext cx="2788989" cy="1231175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B570C18-5E58-EBB4-832D-0D0FE8804068}"/>
              </a:ext>
            </a:extLst>
          </p:cNvPr>
          <p:cNvSpPr txBox="1"/>
          <p:nvPr/>
        </p:nvSpPr>
        <p:spPr>
          <a:xfrm>
            <a:off x="1248521" y="3373324"/>
            <a:ext cx="2035557" cy="83099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SG" sz="16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Director of Rothchild’s</a:t>
            </a:r>
          </a:p>
          <a:p>
            <a:r>
              <a:rPr lang="en-SG" sz="16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trust companies</a:t>
            </a:r>
          </a:p>
          <a:p>
            <a:endParaRPr lang="en-SG" sz="1600" dirty="0">
              <a:solidFill>
                <a:schemeClr val="tx2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700604A-4E4F-5575-E084-EFB71B4741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0431" y="4343759"/>
            <a:ext cx="2257740" cy="164805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9A635D8-0F10-5D0C-B8F2-A70C4FED5355}"/>
              </a:ext>
            </a:extLst>
          </p:cNvPr>
          <p:cNvSpPr txBox="1"/>
          <p:nvPr/>
        </p:nvSpPr>
        <p:spPr>
          <a:xfrm>
            <a:off x="8376116" y="6005596"/>
            <a:ext cx="2957476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SG" altLang="zh-CN" sz="16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Executive</a:t>
            </a:r>
            <a:r>
              <a:rPr lang="zh-CN" altLang="en-US" sz="16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SG" altLang="zh-CN" sz="16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Committee</a:t>
            </a:r>
            <a:endParaRPr lang="en-SG" sz="1600" dirty="0">
              <a:solidFill>
                <a:schemeClr val="tx2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SG" sz="16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Hong Kong Trustees’ Association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DB26486-8520-9816-91BB-D4D0A02F25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890" y="4661071"/>
            <a:ext cx="2348102" cy="107721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217D86C-E5E8-CD35-F4C0-72E9A0801F85}"/>
              </a:ext>
            </a:extLst>
          </p:cNvPr>
          <p:cNvSpPr txBox="1"/>
          <p:nvPr/>
        </p:nvSpPr>
        <p:spPr>
          <a:xfrm>
            <a:off x="4182351" y="5831271"/>
            <a:ext cx="3527825" cy="83099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SG" altLang="zh-CN" sz="16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Executive</a:t>
            </a:r>
            <a:r>
              <a:rPr lang="zh-CN" altLang="en-US" sz="16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SG" altLang="zh-CN" sz="16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Committee</a:t>
            </a:r>
            <a:endParaRPr lang="en-SG" sz="1600" dirty="0">
              <a:solidFill>
                <a:schemeClr val="tx2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6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Society of Trust and Estate Practitioners </a:t>
            </a:r>
          </a:p>
          <a:p>
            <a:r>
              <a:rPr lang="en-GB" sz="16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(Hong Kong Branch)</a:t>
            </a:r>
            <a:endParaRPr lang="en-SG" sz="1600" dirty="0">
              <a:solidFill>
                <a:schemeClr val="tx2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6069F5B3-8DE7-B38E-25ED-ED817051FD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7328" y="4686888"/>
            <a:ext cx="2182290" cy="1148687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3D26E466-9AE0-A53F-F5B6-2F5B52365F65}"/>
              </a:ext>
            </a:extLst>
          </p:cNvPr>
          <p:cNvSpPr txBox="1"/>
          <p:nvPr/>
        </p:nvSpPr>
        <p:spPr>
          <a:xfrm>
            <a:off x="960694" y="5848885"/>
            <a:ext cx="2900025" cy="83099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Adjunct Professor </a:t>
            </a:r>
          </a:p>
          <a:p>
            <a:r>
              <a:rPr lang="en-US" altLang="zh-CN" sz="16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of International Estate Planning</a:t>
            </a:r>
          </a:p>
          <a:p>
            <a:r>
              <a:rPr lang="en-US" altLang="zh-CN" sz="16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National University of Singapore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826E74-E46D-33AC-D521-A8A87118F8E6}"/>
              </a:ext>
            </a:extLst>
          </p:cNvPr>
          <p:cNvSpPr txBox="1"/>
          <p:nvPr/>
        </p:nvSpPr>
        <p:spPr>
          <a:xfrm>
            <a:off x="2725932" y="1058805"/>
            <a:ext cx="5443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These are my Martner – IEP and trust lawyer’s credential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FA518A-7865-3947-A055-4D5184E18DA3}"/>
              </a:ext>
            </a:extLst>
          </p:cNvPr>
          <p:cNvSpPr/>
          <p:nvPr/>
        </p:nvSpPr>
        <p:spPr>
          <a:xfrm>
            <a:off x="8066314" y="2188029"/>
            <a:ext cx="2653393" cy="20737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0758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742BB-1090-E7BF-ABF5-147764DF1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1800" dirty="0"/>
              <a:t>These are companies I’ve worked with as senior international leader – CFO, Regional Finance Director, Regional Strategy Lead, Transformation lead,, company director,, various committee chairman and member. Please advise how best to display these on the website – as experience or companies we’ve worked with, or credibility of global leading companies (Mostly) and growing SMEs (- only 3: Kingfisher, Navitas, JCS)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DCE618-A607-BD46-0258-3166DB6D3A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3522" y="1932980"/>
            <a:ext cx="1745634" cy="818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8F78F4E-CEF8-89EE-43C8-8107519281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9624" y="1796964"/>
            <a:ext cx="1547695" cy="9544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7564D80-9236-CEA9-6A2D-A9A3069987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1263" y="1914095"/>
            <a:ext cx="1822732" cy="818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19">
            <a:extLst>
              <a:ext uri="{FF2B5EF4-FFF2-40B4-BE49-F238E27FC236}">
                <a16:creationId xmlns:a16="http://schemas.microsoft.com/office/drawing/2014/main" id="{38836DDC-8194-9234-E0C3-D2880D7EC5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1371" y="1951865"/>
            <a:ext cx="1740007" cy="818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76DC713-A4A8-E317-941E-90040DFC57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1058" y="1847009"/>
            <a:ext cx="1547696" cy="95260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1044AB1-7489-0724-AF74-E1F15945861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17356" y="1643908"/>
            <a:ext cx="1649360" cy="108862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DD8DE70-F20B-A64C-C397-06605A9D9DB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1667" y="3363686"/>
            <a:ext cx="2024224" cy="8980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791B79B-73BE-5F20-9310-9666BB82037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88885" y="3058617"/>
            <a:ext cx="1740824" cy="174082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B77C565-3824-9AC6-63CF-9CE7580C116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70693" y="3562386"/>
            <a:ext cx="1861145" cy="57970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E44450A-0DDE-9EBB-5970-E18A3C94335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75682" y="3589246"/>
            <a:ext cx="1740824" cy="672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581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96BFC-B601-E85F-E981-61DAC2234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These are clients my other partner has worked with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6AE3A3-FA8F-5266-CC66-F6269400B8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307" y="1749878"/>
            <a:ext cx="1956707" cy="19567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F0A48C8-F19A-A332-AD1C-88A9AC9E3A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8538" y="2123046"/>
            <a:ext cx="2054696" cy="1096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0543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65933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5042C-7305-06F5-173B-D3959A750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53132F-61A3-AD8E-0F35-B8D6C1C247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3882" y="800547"/>
            <a:ext cx="1771897" cy="18957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48DC375-AF83-820B-1DFB-0E03325DE596}"/>
              </a:ext>
            </a:extLst>
          </p:cNvPr>
          <p:cNvSpPr txBox="1"/>
          <p:nvPr/>
        </p:nvSpPr>
        <p:spPr>
          <a:xfrm>
            <a:off x="882870" y="1489106"/>
            <a:ext cx="5293995" cy="470898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b="1" dirty="0"/>
              <a:t>Corporate Structure &amp; Services</a:t>
            </a:r>
          </a:p>
          <a:p>
            <a:pPr algn="ctr"/>
            <a:r>
              <a:rPr lang="en-GB" sz="1400" dirty="0">
                <a:solidFill>
                  <a:srgbClr val="000000"/>
                </a:solidFill>
                <a:latin typeface="Verdana" panose="020B0604030504040204" pitchFamily="34" charset="0"/>
              </a:rPr>
              <a:t>S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ingle or multiple types of entities and jurisdictions</a:t>
            </a:r>
          </a:p>
          <a:p>
            <a:pPr algn="ctr"/>
            <a:r>
              <a:rPr lang="en-GB" sz="1400" dirty="0">
                <a:solidFill>
                  <a:srgbClr val="000000"/>
                </a:solidFill>
                <a:latin typeface="Verdana" panose="020B0604030504040204" pitchFamily="34" charset="0"/>
              </a:rPr>
              <a:t>Set-up and 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On-going Support </a:t>
            </a:r>
          </a:p>
          <a:p>
            <a:endParaRPr lang="en-GB" sz="1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endParaRPr lang="en-GB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Legal entity structuring &amp; set 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Corporate Services:</a:t>
            </a:r>
          </a:p>
          <a:p>
            <a:pPr marL="628650" lvl="1" indent="-171450">
              <a:buFontTx/>
              <a:buChar char="-"/>
            </a:pP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Company Secretary </a:t>
            </a:r>
          </a:p>
          <a:p>
            <a:pPr marL="628650" lvl="1" indent="-171450">
              <a:buFontTx/>
              <a:buChar char="-"/>
            </a:pP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Directorship</a:t>
            </a:r>
          </a:p>
          <a:p>
            <a:pPr marL="628650" lvl="1" indent="-171450">
              <a:buFontTx/>
              <a:buChar char="-"/>
            </a:pP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Regulatory Risk Mitigation</a:t>
            </a:r>
          </a:p>
          <a:p>
            <a:pPr marL="628650" lvl="1" indent="-171450">
              <a:buFontTx/>
              <a:buChar char="-"/>
            </a:pP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Regulatory &amp; Financial Reporting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Local licenses and permits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Insurances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Recruitment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Employment Passes &amp; Immigration – Singapore</a:t>
            </a:r>
          </a:p>
          <a:p>
            <a:endParaRPr lang="en-GB" sz="1200" dirty="0"/>
          </a:p>
          <a:p>
            <a:endParaRPr lang="en-GB" sz="1200" dirty="0"/>
          </a:p>
          <a:p>
            <a:r>
              <a:rPr lang="en-GB" sz="1200" dirty="0"/>
              <a:t>Key benefits: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dirty="0"/>
              <a:t>Limit liabilities from any potential lawsuits and financial losses.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dirty="0"/>
              <a:t>Optimise tax by leveraging our international comparative tax knowledge.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dirty="0"/>
              <a:t>Simplify Compliance to free up resources for growing business.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dirty="0"/>
              <a:t>Attract investors with a structure internationally recognised for greater stability and transparency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SG" sz="1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9ED7B0-FC7D-7590-0772-BCCB0A1AC2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535" y="639806"/>
            <a:ext cx="1771897" cy="18957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400F4ED-AFE8-4624-0BB0-693EFFAA0FCB}"/>
              </a:ext>
            </a:extLst>
          </p:cNvPr>
          <p:cNvSpPr txBox="1"/>
          <p:nvPr/>
        </p:nvSpPr>
        <p:spPr>
          <a:xfrm>
            <a:off x="6456357" y="1336172"/>
            <a:ext cx="5931016" cy="526297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>
                <a:solidFill>
                  <a:srgbClr val="000000"/>
                </a:solidFill>
                <a:latin typeface="Verdana" panose="020B0604030504040204" pitchFamily="34" charset="0"/>
              </a:rPr>
              <a:t>Regulatory Reporting &amp; Advisory</a:t>
            </a:r>
          </a:p>
          <a:p>
            <a:pPr algn="ctr"/>
            <a:r>
              <a:rPr lang="en-GB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Full financial Reporting Services,  SFRS, SFRS(I), IFRS(I), ACRA, IRAS, Company Act compliant</a:t>
            </a:r>
          </a:p>
          <a:p>
            <a:pPr algn="ctr"/>
            <a:endParaRPr lang="en-GB" sz="14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Directors’ Report, Financial Statements +Notes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Annual Return and tax filing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Pre-map compliance thresholds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Assess exemption scenarios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Offer Group Efficiency Package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Minimize clients burdens</a:t>
            </a:r>
            <a:endParaRPr lang="en-GB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GB" sz="14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benefits:</a:t>
            </a:r>
          </a:p>
          <a:p>
            <a:endParaRPr lang="en-GB" sz="14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600" b="1" dirty="0">
                <a:highlight>
                  <a:srgbClr val="00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✓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Meet reporting requirement efficiently</a:t>
            </a:r>
          </a:p>
          <a:p>
            <a:r>
              <a:rPr lang="en-GB" sz="1400" b="1" dirty="0">
                <a:highlight>
                  <a:srgbClr val="00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✓</a:t>
            </a: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Simplify compliance </a:t>
            </a:r>
          </a:p>
          <a:p>
            <a:r>
              <a:rPr lang="en-GB" sz="1400" b="1" dirty="0">
                <a:highlight>
                  <a:srgbClr val="00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✓</a:t>
            </a: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SG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Enable strategic choices, optimum protection, and disclosure controls.</a:t>
            </a:r>
          </a:p>
          <a:p>
            <a:endParaRPr lang="en-GB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SG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</a:t>
            </a:r>
            <a:endParaRPr lang="en-GB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SG" sz="1400" b="1" dirty="0">
                <a:highlight>
                  <a:srgbClr val="FF00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SG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over-reporting</a:t>
            </a:r>
            <a:endParaRPr lang="en-GB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SG" sz="1400" dirty="0">
                <a:highlight>
                  <a:srgbClr val="FF00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SG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data overload</a:t>
            </a:r>
          </a:p>
          <a:p>
            <a:r>
              <a:rPr lang="en-SG" sz="1400" dirty="0">
                <a:solidFill>
                  <a:srgbClr val="000000"/>
                </a:solidFill>
                <a:highlight>
                  <a:srgbClr val="FF00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SG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unnecessary disclosure</a:t>
            </a:r>
            <a:endParaRPr lang="en-GB" sz="14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1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endParaRPr lang="en-GB" sz="12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A10BA4-CA3A-E3F4-4E0A-7D05F9C80E68}"/>
              </a:ext>
            </a:extLst>
          </p:cNvPr>
          <p:cNvSpPr/>
          <p:nvPr/>
        </p:nvSpPr>
        <p:spPr>
          <a:xfrm>
            <a:off x="3276047" y="136098"/>
            <a:ext cx="5931017" cy="5384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chemeClr val="tx1"/>
                </a:solidFill>
                <a:latin typeface="Söhne"/>
              </a:rPr>
              <a:t>Corporate Structuring </a:t>
            </a:r>
            <a:endParaRPr lang="en-GB" sz="2800" b="1" i="0" dirty="0">
              <a:solidFill>
                <a:schemeClr val="tx1"/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42024968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7A6988A5-F9B4-B486-0301-D01342187119}"/>
              </a:ext>
            </a:extLst>
          </p:cNvPr>
          <p:cNvSpPr/>
          <p:nvPr/>
        </p:nvSpPr>
        <p:spPr>
          <a:xfrm>
            <a:off x="69850" y="606348"/>
            <a:ext cx="12052299" cy="61308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>
              <a:solidFill>
                <a:schemeClr val="tx1"/>
              </a:solidFill>
              <a:latin typeface="Söhne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B67A212-6B9D-5699-E29D-004FDF97184B}"/>
              </a:ext>
            </a:extLst>
          </p:cNvPr>
          <p:cNvSpPr txBox="1"/>
          <p:nvPr/>
        </p:nvSpPr>
        <p:spPr>
          <a:xfrm>
            <a:off x="434236" y="2034407"/>
            <a:ext cx="4488828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285750" indent="-285750">
              <a:buFont typeface="Arial" panose="020B0604020202020204" pitchFamily="34" charset="0"/>
              <a:buChar char="•"/>
              <a:defRPr sz="1400" b="1" i="0" u="none" strike="noStrike">
                <a:solidFill>
                  <a:srgbClr val="374151"/>
                </a:solidFill>
                <a:effectLst/>
                <a:latin typeface="Times New Roman" panose="02020603050405020304" pitchFamily="18" charset="0"/>
              </a:defRPr>
            </a:lvl1pPr>
            <a:lvl2pPr lvl="1" fontAlgn="ctr">
              <a:defRPr b="0" i="0" u="none" strike="noStrike">
                <a:solidFill>
                  <a:srgbClr val="374151"/>
                </a:solidFill>
                <a:effectLst/>
                <a:latin typeface="Times New Roman" panose="02020603050405020304" pitchFamily="18" charset="0"/>
              </a:defRPr>
            </a:lvl2pPr>
          </a:lstStyle>
          <a:p>
            <a:pPr marL="0" indent="0">
              <a:buNone/>
            </a:pPr>
            <a:endParaRPr lang="en-S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S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Planning, Budgeting, Forecasting </a:t>
            </a:r>
          </a:p>
          <a:p>
            <a:pPr marL="628650" lvl="2"/>
            <a:r>
              <a:rPr lang="en-SG" sz="1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Translating vision to strategies, operationalizing strategies to specific execution and performance targets.</a:t>
            </a:r>
          </a:p>
          <a:p>
            <a:r>
              <a:rPr lang="en-S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Resource allocation / Investment prioritization / ROI</a:t>
            </a:r>
          </a:p>
          <a:p>
            <a:r>
              <a:rPr lang="en-S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Insight &amp; Performance Management</a:t>
            </a:r>
          </a:p>
          <a:p>
            <a:pPr marL="0" indent="0">
              <a:buNone/>
            </a:pPr>
            <a:endParaRPr lang="en-S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28650" lvl="2"/>
            <a:r>
              <a:rPr lang="en-SG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  Integrated Dashboard (KPIs identified &amp; tracked)</a:t>
            </a:r>
          </a:p>
          <a:p>
            <a:pPr marL="628650" lvl="2"/>
            <a:r>
              <a:rPr lang="en-SG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   Business Model Insight</a:t>
            </a:r>
          </a:p>
          <a:p>
            <a:pPr marL="628650" lvl="2"/>
            <a:r>
              <a:rPr lang="en-SG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   Business Drivers (Revenue, Costs) </a:t>
            </a:r>
          </a:p>
          <a:p>
            <a:pPr marL="628650" lvl="2"/>
            <a:r>
              <a:rPr lang="en-SG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  Variance Analysis </a:t>
            </a:r>
          </a:p>
          <a:p>
            <a:pPr marL="628650" lvl="2"/>
            <a:r>
              <a:rPr lang="en-SG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   Profitability </a:t>
            </a:r>
          </a:p>
          <a:p>
            <a:pPr marL="628650" lvl="2"/>
            <a:r>
              <a:rPr lang="en-SG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  Trend Analysis</a:t>
            </a:r>
          </a:p>
          <a:p>
            <a:pPr marL="628650" lvl="2"/>
            <a:r>
              <a:rPr lang="en-SG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   Sensitivity Analysis </a:t>
            </a:r>
          </a:p>
          <a:p>
            <a:pPr marL="628650" lvl="2"/>
            <a:r>
              <a:rPr lang="en-SG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    Risk &amp; Opportunity Proactive Management</a:t>
            </a:r>
          </a:p>
          <a:p>
            <a:pPr marL="628650" lvl="2"/>
            <a:endParaRPr lang="en-SG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Financial Reporting –Compliant, Efficient, Cost Effective</a:t>
            </a:r>
          </a:p>
          <a:p>
            <a:pPr marL="628650" lvl="2"/>
            <a:r>
              <a:rPr lang="en-SG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   Monthly Financial Report </a:t>
            </a:r>
          </a:p>
          <a:p>
            <a:pPr marL="628650" lvl="2"/>
            <a:r>
              <a:rPr lang="en-SG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    Annual Statutory Reporting (SFRS, SFRS(I), IFRS, audit ready)</a:t>
            </a:r>
          </a:p>
          <a:p>
            <a:pPr marL="628650" lvl="2"/>
            <a:endParaRPr lang="en-SG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28650" lvl="2"/>
            <a:endParaRPr lang="en-SG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28650" lvl="2"/>
            <a:endParaRPr lang="en-SG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AutoShape 2">
            <a:extLst>
              <a:ext uri="{FF2B5EF4-FFF2-40B4-BE49-F238E27FC236}">
                <a16:creationId xmlns:a16="http://schemas.microsoft.com/office/drawing/2014/main" id="{CB77B3A2-DE12-91D8-5DFD-4DC7C725687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39700" y="-412750"/>
            <a:ext cx="133350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SG"/>
          </a:p>
        </p:txBody>
      </p:sp>
      <p:sp>
        <p:nvSpPr>
          <p:cNvPr id="16" name="AutoShape 3">
            <a:extLst>
              <a:ext uri="{FF2B5EF4-FFF2-40B4-BE49-F238E27FC236}">
                <a16:creationId xmlns:a16="http://schemas.microsoft.com/office/drawing/2014/main" id="{53CC7432-3F1B-0E7E-283E-DB1D6C25E7F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39700" y="-46038"/>
            <a:ext cx="133350" cy="133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SG"/>
          </a:p>
        </p:txBody>
      </p:sp>
      <p:sp>
        <p:nvSpPr>
          <p:cNvPr id="22" name="AutoShape 4">
            <a:extLst>
              <a:ext uri="{FF2B5EF4-FFF2-40B4-BE49-F238E27FC236}">
                <a16:creationId xmlns:a16="http://schemas.microsoft.com/office/drawing/2014/main" id="{76FFB4C5-85C1-79D6-AB30-AEF3B59AAFB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39700" y="319088"/>
            <a:ext cx="133350" cy="133350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SG">
              <a:solidFill>
                <a:schemeClr val="lt1"/>
              </a:solidFill>
              <a:latin typeface="Söhne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3AB394-FFB6-E15E-37D6-7FA877D0E803}"/>
              </a:ext>
            </a:extLst>
          </p:cNvPr>
          <p:cNvSpPr txBox="1"/>
          <p:nvPr/>
        </p:nvSpPr>
        <p:spPr>
          <a:xfrm>
            <a:off x="5245088" y="1695814"/>
            <a:ext cx="6825497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SG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Management / Board / Stakeholder Reporting</a:t>
            </a:r>
          </a:p>
          <a:p>
            <a:r>
              <a:rPr lang="en-SG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Insightful &amp; credible, enabling decision and execution agility and improving confidence of investors / stakeholders</a:t>
            </a:r>
          </a:p>
          <a:p>
            <a:pPr marL="742950" lvl="1" indent="-285750">
              <a:buFontTx/>
              <a:buChar char="-"/>
            </a:pPr>
            <a:endParaRPr lang="en-SG" sz="1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SG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Specific Purpose CFO</a:t>
            </a:r>
          </a:p>
          <a:p>
            <a:pPr lvl="2" indent="-285750">
              <a:buFontTx/>
              <a:buChar char="-"/>
            </a:pPr>
            <a:r>
              <a:rPr lang="en-SG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SG" sz="1400" b="0" i="0" u="none" strike="noStrike" kern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nvestment proposal / financial projection</a:t>
            </a:r>
          </a:p>
          <a:p>
            <a:pPr marL="628650" lvl="2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   Project Management (PRINCE 2 Practitioner)   </a:t>
            </a:r>
            <a:endParaRPr lang="en-SG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2" indent="-285750">
              <a:buFontTx/>
              <a:buChar char="-"/>
            </a:pP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Partnering - Cross-Functional Process / Deliverables Re-engineering</a:t>
            </a:r>
          </a:p>
          <a:p>
            <a:pPr lvl="2" indent="-285750">
              <a:buFontTx/>
              <a:buChar char="-"/>
            </a:pP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Partnering - Growth Initiatives</a:t>
            </a:r>
          </a:p>
          <a:p>
            <a:pPr marL="628650" lvl="2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     Scenario modelling &amp; planning</a:t>
            </a:r>
            <a:endParaRPr lang="en-SG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2" indent="-285750">
              <a:buFontTx/>
              <a:buChar char="-"/>
            </a:pP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Post M&amp;A Integration, Re-structuring</a:t>
            </a:r>
          </a:p>
          <a:p>
            <a:pPr lvl="2" indent="-285750">
              <a:buFontTx/>
              <a:buChar char="-"/>
            </a:pPr>
            <a:r>
              <a:rPr lang="en-SG" sz="1200" dirty="0">
                <a:latin typeface="Arial" panose="020B0604020202020204" pitchFamily="34" charset="0"/>
                <a:cs typeface="Arial" panose="020B0604020202020204" pitchFamily="34" charset="0"/>
              </a:rPr>
              <a:t>Building FP&amp;A capability</a:t>
            </a:r>
          </a:p>
          <a:p>
            <a:pPr marL="628650" lvl="2"/>
            <a:endParaRPr lang="en-SG" sz="1400" b="0" i="0" u="none" strike="noStrike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Transformation</a:t>
            </a:r>
          </a:p>
          <a:p>
            <a:pPr lvl="2" indent="-285750">
              <a:buFontTx/>
              <a:buChar char="-"/>
            </a:pPr>
            <a:r>
              <a:rPr lang="en-GB" sz="1400" b="0" i="0" u="none" strike="noStrike" kern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Strategy, Roadmap</a:t>
            </a: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Change Management</a:t>
            </a:r>
          </a:p>
          <a:p>
            <a:pPr lvl="2" indent="-285750">
              <a:buFontTx/>
              <a:buChar char="-"/>
            </a:pPr>
            <a:r>
              <a:rPr lang="en-GB" sz="1400" b="0" i="0" u="none" strike="noStrike" kern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Organization / Finance structure and process mapping</a:t>
            </a:r>
            <a:endParaRPr lang="en-SG" sz="1400" b="0" i="0" u="none" strike="noStrike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2" indent="-285750">
              <a:buFontTx/>
              <a:buChar char="-"/>
            </a:pPr>
            <a:r>
              <a:rPr lang="en-GB" sz="1400" b="0" i="0" u="none" strike="noStrike" kern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Financial impact analysis: investment, costs, benefits</a:t>
            </a:r>
            <a:endParaRPr lang="en-GB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GB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&amp;n Transformation:</a:t>
            </a:r>
          </a:p>
          <a:p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Productivity – Cost Optimization: Diagnostics, proposals, Roadmaps, change management, tracking</a:t>
            </a:r>
            <a:endParaRPr lang="en-SG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A14F82-8755-9E78-6B6C-89C27578364E}"/>
              </a:ext>
            </a:extLst>
          </p:cNvPr>
          <p:cNvSpPr txBox="1"/>
          <p:nvPr/>
        </p:nvSpPr>
        <p:spPr>
          <a:xfrm>
            <a:off x="795445" y="872269"/>
            <a:ext cx="1096231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/>
              <a:t>On‑demand C‑suite finance leadership to steer strategy, scale operation, build capability. Innovative &amp; pragmatic solutions tailored to specific needs.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5A94A1-5AE5-18A8-273C-4FF379BB70DA}"/>
              </a:ext>
            </a:extLst>
          </p:cNvPr>
          <p:cNvSpPr/>
          <p:nvPr/>
        </p:nvSpPr>
        <p:spPr>
          <a:xfrm>
            <a:off x="3260549" y="333801"/>
            <a:ext cx="5931017" cy="5384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chemeClr val="tx1"/>
                </a:solidFill>
                <a:latin typeface="Corbel" panose="020B0503020204020204" pitchFamily="34" charset="0"/>
              </a:rPr>
              <a:t>Fractional CFO </a:t>
            </a:r>
            <a:endParaRPr lang="en-GB" sz="2800" b="1" i="0" dirty="0">
              <a:solidFill>
                <a:schemeClr val="tx1"/>
              </a:solidFill>
              <a:effectLst/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01328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9904D-5247-315F-5C62-DFFA833C7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B2C9486-42B7-4109-3D33-8DB62C9414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3882" y="800547"/>
            <a:ext cx="1771897" cy="18957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87B7E92-9699-3DAA-9BBF-A66672D956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535" y="639806"/>
            <a:ext cx="1771897" cy="18957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450C34E-60C9-41CD-FA23-4704850195A2}"/>
              </a:ext>
            </a:extLst>
          </p:cNvPr>
          <p:cNvSpPr txBox="1"/>
          <p:nvPr/>
        </p:nvSpPr>
        <p:spPr>
          <a:xfrm>
            <a:off x="6456357" y="1336172"/>
            <a:ext cx="5931016" cy="526297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>
                <a:solidFill>
                  <a:srgbClr val="000000"/>
                </a:solidFill>
                <a:latin typeface="Verdana" panose="020B0604030504040204" pitchFamily="34" charset="0"/>
              </a:rPr>
              <a:t>Regulatory Reporting &amp; Advisory</a:t>
            </a:r>
          </a:p>
          <a:p>
            <a:pPr algn="ctr"/>
            <a:r>
              <a:rPr lang="en-GB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Full financial Reporting Services,  SFRS, SFRS(I), IFRS(I), ACRA, IRAS, Company Act compliant</a:t>
            </a:r>
          </a:p>
          <a:p>
            <a:pPr algn="ctr"/>
            <a:endParaRPr lang="en-GB" sz="14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Directors’ Report, Financial Statements +Notes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Annual Return and tax filing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Pre-map compliance thresholds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Assess exemption scenarios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Offer Group Efficiency Package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Minimize clients burdens</a:t>
            </a:r>
            <a:endParaRPr lang="en-GB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GB" sz="14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benefits:</a:t>
            </a:r>
          </a:p>
          <a:p>
            <a:endParaRPr lang="en-GB" sz="14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600" b="1" dirty="0">
                <a:highlight>
                  <a:srgbClr val="00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✓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Meet reporting requirement efficiently</a:t>
            </a:r>
          </a:p>
          <a:p>
            <a:r>
              <a:rPr lang="en-GB" sz="1400" b="1" dirty="0">
                <a:highlight>
                  <a:srgbClr val="00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✓</a:t>
            </a: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Simplify compliance </a:t>
            </a:r>
          </a:p>
          <a:p>
            <a:r>
              <a:rPr lang="en-GB" sz="1400" b="1" dirty="0">
                <a:highlight>
                  <a:srgbClr val="00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✓</a:t>
            </a: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SG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Enable strategic choices, optimum protection, and disclosure controls.</a:t>
            </a:r>
          </a:p>
          <a:p>
            <a:endParaRPr lang="en-GB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SG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</a:t>
            </a:r>
            <a:endParaRPr lang="en-GB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SG" sz="1400" b="1" dirty="0">
                <a:highlight>
                  <a:srgbClr val="FF00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SG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over-reporting</a:t>
            </a:r>
            <a:endParaRPr lang="en-GB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SG" sz="1400" dirty="0">
                <a:highlight>
                  <a:srgbClr val="FF00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SG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data overload</a:t>
            </a:r>
          </a:p>
          <a:p>
            <a:r>
              <a:rPr lang="en-SG" sz="1400" dirty="0">
                <a:solidFill>
                  <a:srgbClr val="000000"/>
                </a:solidFill>
                <a:highlight>
                  <a:srgbClr val="FF00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SG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unnecessary disclosure</a:t>
            </a:r>
            <a:endParaRPr lang="en-GB" sz="14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1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endParaRPr lang="en-GB" sz="12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EB2C9D-2911-1ED3-2FAE-2359F214715C}"/>
              </a:ext>
            </a:extLst>
          </p:cNvPr>
          <p:cNvSpPr/>
          <p:nvPr/>
        </p:nvSpPr>
        <p:spPr>
          <a:xfrm>
            <a:off x="3276047" y="136098"/>
            <a:ext cx="5931017" cy="5384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chemeClr val="tx1"/>
                </a:solidFill>
                <a:latin typeface="Söhne"/>
              </a:rPr>
              <a:t>Corporate Structuring </a:t>
            </a:r>
            <a:endParaRPr lang="en-GB" sz="2800" b="1" i="0" dirty="0">
              <a:solidFill>
                <a:schemeClr val="tx1"/>
              </a:solidFill>
              <a:effectLst/>
              <a:latin typeface="Söhn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185867-3479-69E9-DF80-A38B85BE79CA}"/>
              </a:ext>
            </a:extLst>
          </p:cNvPr>
          <p:cNvSpPr txBox="1"/>
          <p:nvPr/>
        </p:nvSpPr>
        <p:spPr>
          <a:xfrm>
            <a:off x="629474" y="1587676"/>
            <a:ext cx="4718133" cy="175432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ESG Compliance</a:t>
            </a:r>
          </a:p>
          <a:p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Turn </a:t>
            </a:r>
            <a:r>
              <a:rPr lang="en-GB" sz="1800" dirty="0"/>
              <a:t>ESG Compliance: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CSRD Fast‑Track Diagnostic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800" dirty="0"/>
              <a:t>AML Independent Review (CSP‑Act)</a:t>
            </a:r>
          </a:p>
          <a:p>
            <a:endParaRPr lang="en-GB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56064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B04A303-165A-CA4E-E4FB-CAF4BE90DFDE}"/>
              </a:ext>
            </a:extLst>
          </p:cNvPr>
          <p:cNvSpPr txBox="1"/>
          <p:nvPr/>
        </p:nvSpPr>
        <p:spPr>
          <a:xfrm>
            <a:off x="4450784" y="380692"/>
            <a:ext cx="3478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Business Consulting</a:t>
            </a:r>
            <a:endParaRPr lang="en-SG" sz="3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D4359C-5240-5326-FBC9-E3750724BA89}"/>
              </a:ext>
            </a:extLst>
          </p:cNvPr>
          <p:cNvSpPr txBox="1"/>
          <p:nvPr/>
        </p:nvSpPr>
        <p:spPr>
          <a:xfrm>
            <a:off x="117494" y="4737009"/>
            <a:ext cx="44942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u="sng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</a:rPr>
              <a:t>Contact us at </a:t>
            </a:r>
            <a:r>
              <a:rPr lang="en-US" altLang="en-US" b="1" u="sng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info</a:t>
            </a: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Open Sans" panose="020B0606030504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@IslandCap-g.com</a:t>
            </a:r>
            <a:endParaRPr kumimoji="0" lang="en-US" altLang="en-US" sz="1800" b="1" i="0" u="sng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Open Sans" panose="020B0606030504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C12DC5-B841-47B3-01F3-D5FE197AD0CE}"/>
              </a:ext>
            </a:extLst>
          </p:cNvPr>
          <p:cNvSpPr/>
          <p:nvPr/>
        </p:nvSpPr>
        <p:spPr>
          <a:xfrm>
            <a:off x="478306" y="1579223"/>
            <a:ext cx="2815691" cy="55140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Services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CE6C85-E9DC-D9A3-A278-D3812FBACBBB}"/>
              </a:ext>
            </a:extLst>
          </p:cNvPr>
          <p:cNvSpPr txBox="1"/>
          <p:nvPr/>
        </p:nvSpPr>
        <p:spPr>
          <a:xfrm>
            <a:off x="312826" y="1854926"/>
            <a:ext cx="4137958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usiness plans and cash flow forecast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Operational process &amp; efficiency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Performance management improvement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management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rganizational structure &amp; re-organization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Market research &amp; Analysis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Mitigating Start-up failure risks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9A6B8F-7B25-EF56-134E-0E59AC8FFB4F}"/>
              </a:ext>
            </a:extLst>
          </p:cNvPr>
          <p:cNvSpPr/>
          <p:nvPr/>
        </p:nvSpPr>
        <p:spPr>
          <a:xfrm>
            <a:off x="8368684" y="1564119"/>
            <a:ext cx="2689319" cy="55140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Unique Value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8A7DAC-EC95-787E-68B7-0C7ADC16737C}"/>
              </a:ext>
            </a:extLst>
          </p:cNvPr>
          <p:cNvSpPr txBox="1"/>
          <p:nvPr/>
        </p:nvSpPr>
        <p:spPr>
          <a:xfrm>
            <a:off x="7648508" y="2114121"/>
            <a:ext cx="4392044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GB" sz="1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Proven framework &amp; methodologies identifying and connecting ‘perceived now’ and ‘want to be in future’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ideas to execution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Bridging strategic thinking with operational excellence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Superb communications, articulation, alignment, collaboration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b="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Track records of success with: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MNCs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SMEs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Conglomerates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start-ups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C0787C-3729-FE8E-91A4-9B22B6A6E1DA}"/>
              </a:ext>
            </a:extLst>
          </p:cNvPr>
          <p:cNvSpPr txBox="1"/>
          <p:nvPr/>
        </p:nvSpPr>
        <p:spPr>
          <a:xfrm>
            <a:off x="4450784" y="1643377"/>
            <a:ext cx="2562689" cy="369332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txBody>
          <a:bodyPr wrap="square">
            <a:spAutoFit/>
          </a:bodyPr>
          <a:lstStyle/>
          <a:p>
            <a:pPr lvl="1" algn="ctr"/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Expertise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FFC3B0A-96FC-84AC-A115-9D2A0302ACA5}"/>
              </a:ext>
            </a:extLst>
          </p:cNvPr>
          <p:cNvSpPr txBox="1"/>
          <p:nvPr/>
        </p:nvSpPr>
        <p:spPr>
          <a:xfrm>
            <a:off x="4450784" y="2290597"/>
            <a:ext cx="294894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Served clients in most of Asia, US, Europe, and Middle East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Covered broad range of industries and subjects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SG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Bain &amp; Company experiences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Extensive global knowledge &amp; network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A766C2C-8631-9303-02E2-6A0E3A2F6AAD}"/>
              </a:ext>
            </a:extLst>
          </p:cNvPr>
          <p:cNvSpPr/>
          <p:nvPr/>
        </p:nvSpPr>
        <p:spPr>
          <a:xfrm>
            <a:off x="4236812" y="1401558"/>
            <a:ext cx="822960" cy="699672"/>
          </a:xfrm>
          <a:prstGeom prst="ellipse">
            <a:avLst/>
          </a:prstGeom>
          <a:solidFill>
            <a:srgbClr val="009E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/>
              <a:t>25</a:t>
            </a:r>
          </a:p>
          <a:p>
            <a:pPr algn="ctr"/>
            <a:r>
              <a:rPr lang="en-GB" sz="1400" b="1" dirty="0"/>
              <a:t>years</a:t>
            </a:r>
            <a:endParaRPr lang="en-SG" sz="1400" b="1" dirty="0"/>
          </a:p>
        </p:txBody>
      </p:sp>
    </p:spTree>
    <p:extLst>
      <p:ext uri="{BB962C8B-B14F-4D97-AF65-F5344CB8AC3E}">
        <p14:creationId xmlns:p14="http://schemas.microsoft.com/office/powerpoint/2010/main" val="26568420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Subtitle 2">
            <a:extLst>
              <a:ext uri="{FF2B5EF4-FFF2-40B4-BE49-F238E27FC236}">
                <a16:creationId xmlns:a16="http://schemas.microsoft.com/office/drawing/2014/main" id="{BAF75498-E4F2-4118-A1B4-FDDDD35E04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27832" y="760122"/>
            <a:ext cx="9464168" cy="4869719"/>
          </a:xfrm>
        </p:spPr>
        <p:txBody>
          <a:bodyPr>
            <a:noAutofit/>
          </a:bodyPr>
          <a:lstStyle/>
          <a:p>
            <a:pPr algn="l"/>
            <a:r>
              <a:rPr lang="en-US" altLang="en-US" sz="1600" dirty="0">
                <a:solidFill>
                  <a:schemeClr val="tx1"/>
                </a:solidFill>
              </a:rPr>
              <a:t>Isabella is an </a:t>
            </a:r>
            <a:r>
              <a:rPr lang="en-US" altLang="zh-CN" sz="1600" dirty="0">
                <a:solidFill>
                  <a:schemeClr val="tx1"/>
                </a:solidFill>
              </a:rPr>
              <a:t>accomplished i</a:t>
            </a:r>
            <a:r>
              <a:rPr lang="en-US" altLang="en-US" sz="1600" dirty="0">
                <a:solidFill>
                  <a:schemeClr val="tx1"/>
                </a:solidFill>
              </a:rPr>
              <a:t>nternational finance and business leader </a:t>
            </a:r>
            <a:r>
              <a:rPr lang="en-GB" sz="1600" dirty="0"/>
              <a:t>with &gt; 20 years of leadership experiences with leading MNCs</a:t>
            </a:r>
            <a:r>
              <a:rPr lang="en-US" altLang="en-US" sz="1600" dirty="0"/>
              <a:t> including </a:t>
            </a:r>
            <a:r>
              <a:rPr lang="en-US" altLang="en-US" sz="1600" dirty="0">
                <a:solidFill>
                  <a:schemeClr val="tx1"/>
                </a:solidFill>
              </a:rPr>
              <a:t>Microsoft, Unilever, Energizer, </a:t>
            </a:r>
            <a:r>
              <a:rPr lang="en-US" altLang="zh-CN" sz="1600" dirty="0"/>
              <a:t>Diageo</a:t>
            </a:r>
            <a:r>
              <a:rPr lang="en-SG" altLang="zh-CN" sz="1600" dirty="0"/>
              <a:t>,</a:t>
            </a:r>
            <a:r>
              <a:rPr lang="zh-CN" altLang="en-US" sz="1600" dirty="0"/>
              <a:t> </a:t>
            </a:r>
            <a:r>
              <a:rPr lang="en-SG" altLang="zh-CN" sz="1600" dirty="0"/>
              <a:t>BAT, Boston Scientific.</a:t>
            </a:r>
          </a:p>
          <a:p>
            <a:pPr algn="l"/>
            <a:endParaRPr lang="en-US" altLang="zh-CN" sz="300" dirty="0">
              <a:solidFill>
                <a:schemeClr val="tx1"/>
              </a:solidFill>
            </a:endParaRPr>
          </a:p>
          <a:p>
            <a:pPr algn="l"/>
            <a:r>
              <a:rPr lang="en-US" altLang="en-US" sz="1600" dirty="0">
                <a:solidFill>
                  <a:schemeClr val="tx1"/>
                </a:solidFill>
              </a:rPr>
              <a:t>She has managed 6 complex regions spanning </a:t>
            </a:r>
            <a:r>
              <a:rPr lang="en-GB" altLang="en-US" sz="1600" dirty="0">
                <a:solidFill>
                  <a:schemeClr val="tx1"/>
                </a:solidFill>
              </a:rPr>
              <a:t>over 40 countries, leading Finance, Strategy, Transformation, Business Process, Governance, and Consulting</a:t>
            </a:r>
            <a:r>
              <a:rPr lang="en-US" altLang="en-US" sz="1600" dirty="0">
                <a:solidFill>
                  <a:schemeClr val="tx1"/>
                </a:solidFill>
              </a:rPr>
              <a:t>.</a:t>
            </a:r>
          </a:p>
          <a:p>
            <a:pPr algn="l"/>
            <a:endParaRPr lang="en-US" altLang="en-US" sz="300" dirty="0">
              <a:solidFill>
                <a:schemeClr val="tx1"/>
              </a:solidFill>
            </a:endParaRPr>
          </a:p>
          <a:p>
            <a:pPr algn="l"/>
            <a:r>
              <a:rPr lang="en-GB" altLang="en-US" sz="1600" dirty="0"/>
              <a:t>Isabella has strong experience in formulating and operationalize strategies, driving execution in collaboration with diverse stakeholders globally to deliver target result. S</a:t>
            </a:r>
            <a:r>
              <a:rPr lang="en-US" altLang="en-US" sz="1600" dirty="0"/>
              <a:t>he has a </a:t>
            </a:r>
            <a:r>
              <a:rPr lang="en-US" altLang="en-US" sz="1600" dirty="0">
                <a:solidFill>
                  <a:schemeClr val="tx1"/>
                </a:solidFill>
              </a:rPr>
              <a:t>track record of success driving profitable growth, turnarounds, investment priorities, transforming strategies, systems, processes, and capabilities</a:t>
            </a:r>
            <a:r>
              <a:rPr lang="en-US" altLang="en-US" sz="1600" dirty="0"/>
              <a:t> for the world’s top-tier companies</a:t>
            </a:r>
            <a:r>
              <a:rPr lang="en-US" altLang="en-US" sz="1600" dirty="0">
                <a:solidFill>
                  <a:schemeClr val="tx1"/>
                </a:solidFill>
              </a:rPr>
              <a:t>.</a:t>
            </a:r>
          </a:p>
          <a:p>
            <a:pPr algn="l"/>
            <a:r>
              <a:rPr lang="en-US" altLang="en-US" sz="1600" dirty="0"/>
              <a:t>In her consulting roles, Isabella </a:t>
            </a:r>
            <a:r>
              <a:rPr lang="en-GB" altLang="en-US" sz="1600" dirty="0"/>
              <a:t>partners with global teams  to scale operations, guide strategies and execution, build operational structure and capability. </a:t>
            </a:r>
            <a:endParaRPr lang="en-US" altLang="en-US" sz="1600" dirty="0">
              <a:solidFill>
                <a:schemeClr val="tx1"/>
              </a:solidFill>
            </a:endParaRPr>
          </a:p>
          <a:p>
            <a:pPr algn="l"/>
            <a:endParaRPr lang="en-US" altLang="en-US" sz="300" dirty="0">
              <a:solidFill>
                <a:schemeClr val="tx1"/>
              </a:solidFill>
            </a:endParaRPr>
          </a:p>
          <a:p>
            <a:pPr algn="l"/>
            <a:r>
              <a:rPr lang="en-GB" altLang="en-US" sz="1600" dirty="0"/>
              <a:t>Isabella is an APAC expert with on-the-ground experience in multiple markets, multilingual (Mandarin, Cantonese, English, Bahasa Indonesia). Leveraging her knowledge and network, she has helped companies </a:t>
            </a:r>
            <a:r>
              <a:rPr lang="en-SG" altLang="en-US" sz="1600" dirty="0"/>
              <a:t>set up and scale international business using Singapore as an international gateway.</a:t>
            </a:r>
            <a:endParaRPr lang="en-US" sz="1600" dirty="0"/>
          </a:p>
        </p:txBody>
      </p:sp>
      <p:sp>
        <p:nvSpPr>
          <p:cNvPr id="15" name="Title 2">
            <a:extLst>
              <a:ext uri="{FF2B5EF4-FFF2-40B4-BE49-F238E27FC236}">
                <a16:creationId xmlns:a16="http://schemas.microsoft.com/office/drawing/2014/main" id="{C6F24550-D8F6-4E7A-804C-6DC559CC0A8B}"/>
              </a:ext>
            </a:extLst>
          </p:cNvPr>
          <p:cNvSpPr txBox="1">
            <a:spLocks/>
          </p:cNvSpPr>
          <p:nvPr/>
        </p:nvSpPr>
        <p:spPr bwMode="auto">
          <a:xfrm>
            <a:off x="-364827" y="3231542"/>
            <a:ext cx="2838734" cy="497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ctr" defTabSz="608013" rtl="0" eaLnBrk="0" fontAlgn="base" hangingPunct="0">
              <a:spcBef>
                <a:spcPct val="0"/>
              </a:spcBef>
              <a:spcAft>
                <a:spcPct val="0"/>
              </a:spcAft>
              <a:defRPr sz="5800" kern="1200">
                <a:solidFill>
                  <a:schemeClr val="tx1"/>
                </a:solidFill>
                <a:latin typeface="+mj-lt"/>
                <a:ea typeface="MS PGothic" panose="020B0600070205080204" pitchFamily="34" charset="-128"/>
                <a:cs typeface="ＭＳ Ｐゴシック" charset="0"/>
              </a:defRPr>
            </a:lvl1pPr>
            <a:lvl2pPr algn="ctr" defTabSz="608013" rtl="0" eaLnBrk="0" fontAlgn="base" hangingPunct="0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Calibri" charset="0"/>
                <a:ea typeface="MS PGothic" panose="020B0600070205080204" pitchFamily="34" charset="-128"/>
                <a:cs typeface="ＭＳ Ｐゴシック" charset="0"/>
              </a:defRPr>
            </a:lvl2pPr>
            <a:lvl3pPr algn="ctr" defTabSz="608013" rtl="0" eaLnBrk="0" fontAlgn="base" hangingPunct="0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Calibri" charset="0"/>
                <a:ea typeface="MS PGothic" panose="020B0600070205080204" pitchFamily="34" charset="-128"/>
                <a:cs typeface="ＭＳ Ｐゴシック" charset="0"/>
              </a:defRPr>
            </a:lvl3pPr>
            <a:lvl4pPr algn="ctr" defTabSz="608013" rtl="0" eaLnBrk="0" fontAlgn="base" hangingPunct="0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Calibri" charset="0"/>
                <a:ea typeface="MS PGothic" panose="020B0600070205080204" pitchFamily="34" charset="-128"/>
                <a:cs typeface="ＭＳ Ｐゴシック" charset="0"/>
              </a:defRPr>
            </a:lvl4pPr>
            <a:lvl5pPr algn="ctr" defTabSz="608013" rtl="0" eaLnBrk="0" fontAlgn="base" hangingPunct="0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Calibri" charset="0"/>
                <a:ea typeface="MS PGothic" panose="020B0600070205080204" pitchFamily="34" charset="-128"/>
                <a:cs typeface="ＭＳ Ｐゴシック" charset="0"/>
              </a:defRPr>
            </a:lvl5pPr>
            <a:lvl6pPr marL="457200" algn="ctr" defTabSz="608013" rtl="0" fontAlgn="base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914400" algn="ctr" defTabSz="608013" rtl="0" fontAlgn="base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1371600" algn="ctr" defTabSz="608013" rtl="0" fontAlgn="base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1828800" algn="ctr" defTabSz="608013" rtl="0" fontAlgn="base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MS PGothic" panose="020B0600070205080204" pitchFamily="34" charset="-128"/>
              </a:rPr>
              <a:t>Isabella Lan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MS PGothic" panose="020B0600070205080204" pitchFamily="34" charset="-12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E1EACE-0978-2D42-94DD-B3942B6951E2}"/>
              </a:ext>
            </a:extLst>
          </p:cNvPr>
          <p:cNvSpPr txBox="1"/>
          <p:nvPr/>
        </p:nvSpPr>
        <p:spPr>
          <a:xfrm>
            <a:off x="0" y="4008438"/>
            <a:ext cx="2211754" cy="671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SG" sz="1800" u="sng" kern="100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  <a:hlinkClick r:id="rId2"/>
              </a:rPr>
              <a:t>https://www.linkedin.com/in/isabellalan/</a:t>
            </a:r>
            <a:endParaRPr lang="en-SG" sz="18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C4E12E-D9B2-51C3-E5B6-DFCD1E7004FA}"/>
              </a:ext>
            </a:extLst>
          </p:cNvPr>
          <p:cNvSpPr txBox="1"/>
          <p:nvPr/>
        </p:nvSpPr>
        <p:spPr>
          <a:xfrm>
            <a:off x="4163379" y="167734"/>
            <a:ext cx="62932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b="1" dirty="0">
                <a:solidFill>
                  <a:srgbClr val="002060"/>
                </a:solidFill>
                <a:latin typeface="Calibri" panose="020F0502020204030204" pitchFamily="34" charset="0"/>
              </a:rPr>
              <a:t>FORTUNE 500 &amp; </a:t>
            </a:r>
            <a:r>
              <a:rPr lang="en-GB" b="1" dirty="0">
                <a:solidFill>
                  <a:srgbClr val="000000"/>
                </a:solidFill>
                <a:latin typeface="Calibri" panose="020F0502020204030204" pitchFamily="34" charset="0"/>
              </a:rPr>
              <a:t>ENTREPRENEURIAL </a:t>
            </a:r>
            <a:r>
              <a:rPr lang="en-US" b="1" dirty="0">
                <a:solidFill>
                  <a:srgbClr val="000000"/>
                </a:solidFill>
                <a:latin typeface="Calibri" panose="020F0502020204030204" pitchFamily="34" charset="0"/>
              </a:rPr>
              <a:t>LEADER</a:t>
            </a:r>
          </a:p>
          <a:p>
            <a:pPr algn="ctr"/>
            <a:r>
              <a:rPr lang="en-US" b="1" dirty="0">
                <a:solidFill>
                  <a:srgbClr val="000000"/>
                </a:solidFill>
                <a:latin typeface="Calibri" panose="020F0502020204030204" pitchFamily="34" charset="0"/>
              </a:rPr>
              <a:t>In Finance, Strategy, Business Development, Transformation</a:t>
            </a:r>
            <a:endParaRPr lang="en-SG" dirty="0">
              <a:solidFill>
                <a:srgbClr val="00206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255892-E49C-784A-3010-EFE18CF126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86" y="200034"/>
            <a:ext cx="2267909" cy="2969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8489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E364EE-1751-D8EB-139C-AF03344F8F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8097" y="163774"/>
            <a:ext cx="7131007" cy="6219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3340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74429</TotalTime>
  <Words>1130</Words>
  <Application>Microsoft Office PowerPoint</Application>
  <PresentationFormat>Widescreen</PresentationFormat>
  <Paragraphs>197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Söhne</vt:lpstr>
      <vt:lpstr>Arial</vt:lpstr>
      <vt:lpstr>Calibri</vt:lpstr>
      <vt:lpstr>Calibri Light</vt:lpstr>
      <vt:lpstr>Corbel</vt:lpstr>
      <vt:lpstr>Verdana</vt:lpstr>
      <vt:lpstr>Office Theme</vt:lpstr>
      <vt:lpstr>logo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These are companies I’ve worked with as senior international leader – CFO, Regional Finance Director, Regional Strategy Lead, Transformation lead,, company director,, various committee chairman and member. Please advise how best to display these on the website – as experience or companies we’ve worked with, or credibility of global leading companies (Mostly) and growing SMEs (- only 3: Kingfisher, Navitas, JCS)</vt:lpstr>
      <vt:lpstr>These are clients my other partner has worked with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Sally Long</dc:creator>
  <cp:lastModifiedBy>Isa Lan</cp:lastModifiedBy>
  <cp:revision>811</cp:revision>
  <dcterms:created xsi:type="dcterms:W3CDTF">2016-01-31T09:35:46Z</dcterms:created>
  <dcterms:modified xsi:type="dcterms:W3CDTF">2026-03-26T23:15:27Z</dcterms:modified>
</cp:coreProperties>
</file>