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18"/>
  </p:notesMasterIdLst>
  <p:sldIdLst>
    <p:sldId id="691" r:id="rId2"/>
    <p:sldId id="693" r:id="rId3"/>
    <p:sldId id="680" r:id="rId4"/>
    <p:sldId id="695" r:id="rId5"/>
    <p:sldId id="696" r:id="rId6"/>
    <p:sldId id="679" r:id="rId7"/>
    <p:sldId id="684" r:id="rId8"/>
    <p:sldId id="689" r:id="rId9"/>
    <p:sldId id="690" r:id="rId10"/>
    <p:sldId id="694" r:id="rId11"/>
    <p:sldId id="687" r:id="rId12"/>
    <p:sldId id="651" r:id="rId13"/>
    <p:sldId id="688" r:id="rId14"/>
    <p:sldId id="676" r:id="rId15"/>
    <p:sldId id="668" r:id="rId16"/>
    <p:sldId id="69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47"/>
    <a:srgbClr val="7EDFFA"/>
    <a:srgbClr val="273C18"/>
    <a:srgbClr val="213315"/>
    <a:srgbClr val="002D86"/>
    <a:srgbClr val="403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09" autoAdjust="0"/>
    <p:restoredTop sz="95315" autoAdjust="0"/>
  </p:normalViewPr>
  <p:slideViewPr>
    <p:cSldViewPr snapToGrid="0">
      <p:cViewPr varScale="1">
        <p:scale>
          <a:sx n="54" d="100"/>
          <a:sy n="54" d="100"/>
        </p:scale>
        <p:origin x="62" y="79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 Lan" userId="945ba5853d06cfb5" providerId="LiveId" clId="{4BF6D3D9-5CF5-48F0-AB96-70EE9B74F7F8}"/>
    <pc:docChg chg="undo custSel addSld delSld modSld">
      <pc:chgData name="Isa Lan" userId="945ba5853d06cfb5" providerId="LiveId" clId="{4BF6D3D9-5CF5-48F0-AB96-70EE9B74F7F8}" dt="2026-03-27T00:35:40.152" v="6" actId="47"/>
      <pc:docMkLst>
        <pc:docMk/>
      </pc:docMkLst>
      <pc:sldChg chg="add del">
        <pc:chgData name="Isa Lan" userId="945ba5853d06cfb5" providerId="LiveId" clId="{4BF6D3D9-5CF5-48F0-AB96-70EE9B74F7F8}" dt="2026-03-26T23:25:49.793" v="1" actId="2696"/>
        <pc:sldMkLst>
          <pc:docMk/>
          <pc:sldMk cId="3359774692" sldId="696"/>
        </pc:sldMkLst>
      </pc:sldChg>
      <pc:sldChg chg="addSp delSp modSp new del mod">
        <pc:chgData name="Isa Lan" userId="945ba5853d06cfb5" providerId="LiveId" clId="{4BF6D3D9-5CF5-48F0-AB96-70EE9B74F7F8}" dt="2026-03-27T00:35:40.152" v="6" actId="47"/>
        <pc:sldMkLst>
          <pc:docMk/>
          <pc:sldMk cId="1679992149" sldId="697"/>
        </pc:sldMkLst>
        <pc:spChg chg="del">
          <ac:chgData name="Isa Lan" userId="945ba5853d06cfb5" providerId="LiveId" clId="{4BF6D3D9-5CF5-48F0-AB96-70EE9B74F7F8}" dt="2026-03-27T00:35:24.378" v="3" actId="478"/>
          <ac:spMkLst>
            <pc:docMk/>
            <pc:sldMk cId="1679992149" sldId="697"/>
            <ac:spMk id="3" creationId="{407CD43B-B2A6-92AA-4F2F-2B938A1411F5}"/>
          </ac:spMkLst>
        </pc:spChg>
        <pc:picChg chg="add mod">
          <ac:chgData name="Isa Lan" userId="945ba5853d06cfb5" providerId="LiveId" clId="{4BF6D3D9-5CF5-48F0-AB96-70EE9B74F7F8}" dt="2026-03-27T00:35:29.830" v="5" actId="14100"/>
          <ac:picMkLst>
            <pc:docMk/>
            <pc:sldMk cId="1679992149" sldId="697"/>
            <ac:picMk id="5" creationId="{52BF1D95-941F-8150-02BF-85E3955B577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964528-3FDA-4475-A55F-4C1868C93A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522B0-5A05-495E-B745-75B003C4683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E18F2FA-7FA7-47F6-B110-F9ECB57F3A28}" type="datetime1">
              <a:rPr lang="en-US" altLang="en-US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45E14FC-BC62-4AE7-96E6-BF7032499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3902F28-A6E5-4EAB-B5D3-36BF37DD3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80227-ACF7-41EE-9F24-F038256DB2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EFF2C-372E-4E7C-B49B-BA6FB22B17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4129D1B-662E-4784-9250-876C866FE9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4129D1B-662E-4784-9250-876C866FE900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8651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C3366-43BB-CDBC-BA2C-FFCED0DC2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D607C-399A-0FAF-B405-22679D713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90EC4-A136-2586-B4D2-429EEC1B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2FD216-5B56-4F89-9733-3F2F30140562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C9633-02B2-CB6F-CF70-D3988EB3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0C64-C587-7E62-8D39-8CDC0F74B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F0A95A-375B-4F7A-AB78-753092178FD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6653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DA26-1080-6FDC-A2DB-2281537B8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F9B48-9EA7-8BE6-81A4-46885C1D3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518A8-862A-176F-7EDE-58AB6FDC7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ED865E-CF20-4677-9FF7-9CFF5A0C0E96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D442C-CCD6-40AD-77F6-CC5F95BC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C3612-867D-9D52-F71C-78A708D6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04BF6A-40FC-4C2F-AE2A-46769E53A1E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180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9DAB-CDD2-44BC-1571-05AAEF43C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7B478-FC69-FBDE-8C32-99AB86574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56C60-0179-709E-9F25-85471352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C290F7-CE3A-4D57-9482-7BDE8A6CAAAD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E17CC-F11C-3DB6-8851-40B0EBC5C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28079-6C5B-7F27-DD80-065DC463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70EDC4-9AE3-4F22-AD00-0C8F9564120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538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6CD95-C647-84F3-575B-8FED8E12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52ADC-AA24-4256-FD2A-F9F5CF114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96D6D-1A78-E3C0-50D4-D44623B8A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5BD93-D8FC-1359-4D05-E1D3482D7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D7024F-83B3-466B-9A49-4DF482636C90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C86AE-91A1-4D7F-FF21-4386D1C8C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0D306-9FF4-EEF3-D527-14DE09778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5A23C2-C32C-4B63-9416-81404F21270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402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FD540-12AB-F36A-A9A1-335BD45A8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61787-092A-38B7-958B-43E8F0828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EE1E5-D697-1EA6-D2A6-B131C973D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7BE20-777D-7176-6323-A83297211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AB31BD-7C13-DF02-D371-21FF9E4653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5A4E08-F4B1-646E-1367-6AE027CB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86D23F-517C-487F-ADE1-6574F1D58A21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B4F38C-39CD-F2DF-3765-C4652D2B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B98E13-E12D-83F2-9BD3-DE095AEF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E051C5-9D3E-4CE6-A40B-839193DB0AD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7889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3CF8-4546-2807-4409-BE57520C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DC6C3-2449-11D2-980D-9A4BAFF67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05B508-3906-4CF7-9BCA-1F06466F15F9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D88CF6-2486-6F73-32DD-6F00B8ED8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0149F-8A9D-5E30-9208-169A5D61E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34CD0C-54C6-4CAE-991F-C23CEEDE463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318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3EEC62-8FF4-0B89-2597-13116E9E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1A4544-611F-4EBC-976B-62C0DEFFF813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20C93-6709-70D1-B12F-DAFCEB2E6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29DB4-B99F-A33B-DA32-381B78F6B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6A9314-2C4A-4F99-B182-BF3A15F253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552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E011-DB40-6C11-20AE-3D8080167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DFC0E-4330-1DD1-0B3C-EB0204F1E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9983B-4CC6-9733-35F8-A819013D0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27922-36FE-3675-0C75-C38BC2FC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051694-615A-41F0-BDE8-8DD22F19DB33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35D9D-698B-879D-9EE9-14ADBC739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A996A-E8BD-D60A-B558-234B5866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21C284-58AA-4BEE-82A4-D1EB1E79C49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913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0B92-4478-9999-3856-1C8FF21A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ECC60E-44E3-92DC-0825-DC3CBAB07B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A4B80-F301-E59E-D9BA-848BB1B6A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84B19-344E-E0AD-B631-6CE493BE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D8AFD3-0434-41EF-8644-C7E42D5A8BA0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3B8CE-73B4-0406-2BCE-BDA6A87EC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5C3E5-B79C-5A1C-B93E-C123A09C5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DAAE31-F5B8-4799-B45C-4EB87FB1FB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846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3422-292A-A944-984E-88660F28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F87A1-7657-85DF-1F52-C38F09683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9E833-5037-252D-DC31-8A6AB4695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C5896D-6D37-4183-906E-95511D893630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9E459-6B1D-7CF5-49B7-581F05D4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9022A-1DC4-606B-3D93-22FB9F8CD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59179C-C5E3-4390-99B3-5C566199083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1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A3BCDE-D5DD-5C3C-5FBD-9FCCB8FE87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99D36-B9B0-E0CC-954C-CEE6CB423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4BABB-7E37-FD1D-A58C-D107EEEE0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4A8965-7F6A-4AE7-929E-FD5BAE3A4A55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06F70-7A6F-88B2-607F-23C0B0C48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EA4C0-CDBF-2E9D-6926-BBDA2D44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173186-124A-49A5-9BD3-A330ED2C9FE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4812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7BAE93-AEDA-775F-337B-B43EAB119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87D08-24D7-8E78-ACC2-A6D9BD3E9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1E5E2-B320-4880-B6EA-131469773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19B1F0-2DD7-4160-8078-37C289AE3EF8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C446E-52CC-3739-A591-EC05A5B10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54DA5-F397-8495-EDAE-FC82B739F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E757706-342B-4AA7-BF90-8063C586C4A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9264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ailto:info@IslandCap-g.co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linkedin.com/in/isabellalan/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9E50-67D9-58FE-CDE4-F703FD18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1A0B2-6ED3-F6EE-76A6-00069B7CB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502" y="2922364"/>
            <a:ext cx="5047926" cy="153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1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0E8791-999C-46C7-929D-1E2313C5E309}"/>
              </a:ext>
            </a:extLst>
          </p:cNvPr>
          <p:cNvSpPr txBox="1"/>
          <p:nvPr/>
        </p:nvSpPr>
        <p:spPr>
          <a:xfrm>
            <a:off x="925830" y="971550"/>
            <a:ext cx="1022985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/>
              <a:t>SENIOR LEADERSHIP EXPERIENCE BUILT IN LEADING FORTUNE 500 COMPANIES AND TOP‑TIER INSTITUTIONS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Strengthen decisions. Sharpen priorities. Improve performance. Deliver results.</a:t>
            </a:r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Senior finance leadership in close partnership with your leadership team from strategy through execution.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/>
              <a:t>We help you navigate growth, complexity, and uncertainty with greater clarity and confidence across markets, teams, and stakeholders.</a:t>
            </a:r>
          </a:p>
        </p:txBody>
      </p:sp>
    </p:spTree>
    <p:extLst>
      <p:ext uri="{BB962C8B-B14F-4D97-AF65-F5344CB8AC3E}">
        <p14:creationId xmlns:p14="http://schemas.microsoft.com/office/powerpoint/2010/main" val="409632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48840-A588-B2D5-5406-46C39BE05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9648095-2E6D-BA07-1839-0106429B29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5236" y="110836"/>
            <a:ext cx="10496204" cy="674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94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70443F-A562-8E59-B899-263B08814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240" y="71120"/>
            <a:ext cx="7599679" cy="671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5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5F8A6-5E58-E599-ED6E-A82CC4B28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241" y="602330"/>
            <a:ext cx="7289520" cy="1521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BB9FF8-A821-395D-3A28-9BE3A2840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954" y="2123440"/>
            <a:ext cx="6988811" cy="412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774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C6E55-D5D0-A8B2-5C46-E8D022432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192" y="580517"/>
            <a:ext cx="5044130" cy="125265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SG" sz="4400" dirty="0"/>
              <a:t>Asia expert</a:t>
            </a:r>
          </a:p>
          <a:p>
            <a:pPr marL="0" indent="0">
              <a:buNone/>
            </a:pPr>
            <a:r>
              <a:rPr lang="en-SG" sz="2900" dirty="0"/>
              <a:t>Decades of expertise, in-market operation and regional management in Asia, Across Finance, Strategy, corporate structuring, Transformation, and Business Consulting.</a:t>
            </a:r>
            <a:endParaRPr lang="en-SG" sz="1400" dirty="0"/>
          </a:p>
          <a:p>
            <a:pPr marL="0" indent="0">
              <a:buNone/>
            </a:pPr>
            <a:endParaRPr lang="en-SG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A5A50-B6D5-12DF-FC45-27B06C9DF220}"/>
              </a:ext>
            </a:extLst>
          </p:cNvPr>
          <p:cNvSpPr txBox="1"/>
          <p:nvPr/>
        </p:nvSpPr>
        <p:spPr>
          <a:xfrm>
            <a:off x="6858000" y="588085"/>
            <a:ext cx="4355024" cy="125265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SG" sz="4400" dirty="0"/>
              <a:t>Global knowledge </a:t>
            </a:r>
          </a:p>
          <a:p>
            <a:r>
              <a:rPr lang="en-SG" sz="2600" dirty="0"/>
              <a:t>Global perspective and a strong network built over decades  working with MNCs, enterprises, family offices, and collaborating with diverse stakeholders and allies globally.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9B9B30-80BE-C933-6D3E-447953ACE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90" y="2080056"/>
            <a:ext cx="10500360" cy="40311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C013B8-5BF2-926F-37A8-6062507EB2B3}"/>
              </a:ext>
            </a:extLst>
          </p:cNvPr>
          <p:cNvSpPr txBox="1"/>
          <p:nvPr/>
        </p:nvSpPr>
        <p:spPr>
          <a:xfrm>
            <a:off x="6361669" y="4556760"/>
            <a:ext cx="178308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3600" b="1" dirty="0"/>
              <a:t>25+</a:t>
            </a:r>
            <a:r>
              <a:rPr lang="en-SG" dirty="0"/>
              <a:t> </a:t>
            </a:r>
          </a:p>
          <a:p>
            <a:r>
              <a:rPr lang="en-SG" dirty="0"/>
              <a:t>Years in Business consulting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C6D26-F2DE-317F-049A-FD26871C4D56}"/>
              </a:ext>
            </a:extLst>
          </p:cNvPr>
          <p:cNvSpPr txBox="1"/>
          <p:nvPr/>
        </p:nvSpPr>
        <p:spPr>
          <a:xfrm>
            <a:off x="8739109" y="4533900"/>
            <a:ext cx="178308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3600" b="1" dirty="0"/>
              <a:t>40+</a:t>
            </a:r>
            <a:r>
              <a:rPr lang="en-SG" dirty="0"/>
              <a:t> </a:t>
            </a:r>
          </a:p>
          <a:p>
            <a:r>
              <a:rPr lang="en-US" altLang="zh-CN" dirty="0"/>
              <a:t>Countries managed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909E17-65A5-2BFA-8CDC-1BD1A1B8844E}"/>
              </a:ext>
            </a:extLst>
          </p:cNvPr>
          <p:cNvSpPr txBox="1"/>
          <p:nvPr/>
        </p:nvSpPr>
        <p:spPr>
          <a:xfrm>
            <a:off x="9974580" y="4499252"/>
            <a:ext cx="178308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31115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571B86-CBDF-328C-A13B-24E8E6FA3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97" y="118553"/>
            <a:ext cx="10326541" cy="45726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3FF22D-6D7D-0763-FA28-B5FF23934F5D}"/>
              </a:ext>
            </a:extLst>
          </p:cNvPr>
          <p:cNvSpPr txBox="1"/>
          <p:nvPr/>
        </p:nvSpPr>
        <p:spPr>
          <a:xfrm>
            <a:off x="1624331" y="267629"/>
            <a:ext cx="8230523" cy="107721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Exceptional Industry Reputation &amp; track records </a:t>
            </a:r>
          </a:p>
          <a:p>
            <a:r>
              <a:rPr lang="en-SG" sz="3200" dirty="0"/>
              <a:t> 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D025E8-DAEC-FA8E-A14D-B113FBBFA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520" y="2270866"/>
            <a:ext cx="2788989" cy="123117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570C18-5E58-EBB4-832D-0D0FE8804068}"/>
              </a:ext>
            </a:extLst>
          </p:cNvPr>
          <p:cNvSpPr txBox="1"/>
          <p:nvPr/>
        </p:nvSpPr>
        <p:spPr>
          <a:xfrm>
            <a:off x="1248521" y="3373324"/>
            <a:ext cx="2035557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Director of Rothchild’s</a:t>
            </a:r>
          </a:p>
          <a:p>
            <a:r>
              <a:rPr lang="en-SG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trust companies</a:t>
            </a:r>
          </a:p>
          <a:p>
            <a:endParaRPr lang="en-SG" sz="16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00604A-4E4F-5575-E084-EFB71B474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431" y="4343759"/>
            <a:ext cx="2257740" cy="16480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A635D8-0F10-5D0C-B8F2-A70C4FED5355}"/>
              </a:ext>
            </a:extLst>
          </p:cNvPr>
          <p:cNvSpPr txBox="1"/>
          <p:nvPr/>
        </p:nvSpPr>
        <p:spPr>
          <a:xfrm>
            <a:off x="8376116" y="6005596"/>
            <a:ext cx="2957476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altLang="zh-CN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Executive</a:t>
            </a:r>
            <a:r>
              <a:rPr lang="zh-CN" altLang="en-US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SG" altLang="zh-CN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Committee</a:t>
            </a:r>
            <a:endParaRPr lang="en-SG" sz="16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Hong Kong Trustees’ Association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DB26486-8520-9816-91BB-D4D0A02F25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890" y="4661071"/>
            <a:ext cx="2348102" cy="107721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17D86C-E5E8-CD35-F4C0-72E9A0801F85}"/>
              </a:ext>
            </a:extLst>
          </p:cNvPr>
          <p:cNvSpPr txBox="1"/>
          <p:nvPr/>
        </p:nvSpPr>
        <p:spPr>
          <a:xfrm>
            <a:off x="4182351" y="5831271"/>
            <a:ext cx="3527825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altLang="zh-CN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Executive</a:t>
            </a:r>
            <a:r>
              <a:rPr lang="zh-CN" altLang="en-US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SG" altLang="zh-CN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Committee</a:t>
            </a:r>
            <a:endParaRPr lang="en-SG" sz="16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Society of Trust and Estate Practitioners </a:t>
            </a:r>
          </a:p>
          <a:p>
            <a:r>
              <a:rPr lang="en-GB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(Hong Kong Branch)</a:t>
            </a:r>
            <a:endParaRPr lang="en-SG" sz="16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069F5B3-8DE7-B38E-25ED-ED817051FD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328" y="4686888"/>
            <a:ext cx="2182290" cy="114868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D26E466-9AE0-A53F-F5B6-2F5B52365F65}"/>
              </a:ext>
            </a:extLst>
          </p:cNvPr>
          <p:cNvSpPr txBox="1"/>
          <p:nvPr/>
        </p:nvSpPr>
        <p:spPr>
          <a:xfrm>
            <a:off x="960694" y="5848885"/>
            <a:ext cx="2900025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Adjunct Professor </a:t>
            </a:r>
          </a:p>
          <a:p>
            <a:r>
              <a:rPr lang="en-US" altLang="zh-CN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of International Estate Planning</a:t>
            </a:r>
          </a:p>
          <a:p>
            <a:r>
              <a:rPr lang="en-US" altLang="zh-CN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National University of Singapore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26E74-E46D-33AC-D521-A8A87118F8E6}"/>
              </a:ext>
            </a:extLst>
          </p:cNvPr>
          <p:cNvSpPr txBox="1"/>
          <p:nvPr/>
        </p:nvSpPr>
        <p:spPr>
          <a:xfrm>
            <a:off x="2725932" y="1058805"/>
            <a:ext cx="5443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These are my Martner – IEP and trust lawyer’s credential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FA518A-7865-3947-A055-4D5184E18DA3}"/>
              </a:ext>
            </a:extLst>
          </p:cNvPr>
          <p:cNvSpPr/>
          <p:nvPr/>
        </p:nvSpPr>
        <p:spPr>
          <a:xfrm>
            <a:off x="8066314" y="2188029"/>
            <a:ext cx="2653393" cy="2073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758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42BB-1090-E7BF-ABF5-147764DF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These are companies I’ve worked with as senior international leader – CFO, Regional Finance Director, Regional Strategy Lead, Transformation lead,, company director,, various committee chairman and member. Please advise how best to display these on the website – as experience or companies we’ve worked with, or credibility of global leading companies (Mostly) and growing SMEs (- only 3: Kingfisher, Navitas, JCS)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DCE618-A607-BD46-0258-3166DB6D3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522" y="1932980"/>
            <a:ext cx="1745634" cy="818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F78F4E-CEF8-89EE-43C8-810751928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624" y="1796964"/>
            <a:ext cx="1547695" cy="954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564D80-9236-CEA9-6A2D-A9A306998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263" y="1914095"/>
            <a:ext cx="1822732" cy="818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9">
            <a:extLst>
              <a:ext uri="{FF2B5EF4-FFF2-40B4-BE49-F238E27FC236}">
                <a16:creationId xmlns:a16="http://schemas.microsoft.com/office/drawing/2014/main" id="{38836DDC-8194-9234-E0C3-D2880D7EC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371" y="1951865"/>
            <a:ext cx="1740007" cy="818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6DC713-A4A8-E317-941E-90040DFC57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058" y="1847009"/>
            <a:ext cx="1547696" cy="9526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044AB1-7489-0724-AF74-E1F1594586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7356" y="1643908"/>
            <a:ext cx="1649360" cy="10886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D8DE70-F20B-A64C-C397-06605A9D9D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667" y="3363686"/>
            <a:ext cx="2024224" cy="8980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91B79B-73BE-5F20-9310-9666BB8203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8885" y="3058617"/>
            <a:ext cx="1740824" cy="17408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77C565-3824-9AC6-63CF-9CE7580C11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70693" y="3562386"/>
            <a:ext cx="1861145" cy="5797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E44450A-0DDE-9EBB-5970-E18A3C9433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5682" y="3589246"/>
            <a:ext cx="1740824" cy="67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581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96BFC-B601-E85F-E981-61DAC223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These are clients my other partner has worked with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6AE3A3-FA8F-5266-CC66-F6269400B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07" y="1749878"/>
            <a:ext cx="1956707" cy="1956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0A48C8-F19A-A332-AD1C-88A9AC9E3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538" y="2123046"/>
            <a:ext cx="2054696" cy="109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054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593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5042C-7305-06F5-173B-D3959A750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53132F-61A3-AD8E-0F35-B8D6C1C24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882" y="800547"/>
            <a:ext cx="1771897" cy="1895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8DC375-AF83-820B-1DFB-0E03325DE596}"/>
              </a:ext>
            </a:extLst>
          </p:cNvPr>
          <p:cNvSpPr txBox="1"/>
          <p:nvPr/>
        </p:nvSpPr>
        <p:spPr>
          <a:xfrm>
            <a:off x="882870" y="1489106"/>
            <a:ext cx="5293995" cy="47089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b="1" dirty="0"/>
              <a:t>Corporate Structure &amp; Services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S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ingle or multiple types of entities and jurisdictions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Set-up and 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On-going Support </a:t>
            </a:r>
          </a:p>
          <a:p>
            <a:endParaRPr lang="en-GB" sz="1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GB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Legal entity structuring &amp; set 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Corporate Services:</a:t>
            </a:r>
          </a:p>
          <a:p>
            <a:pPr marL="628650" lvl="1" indent="-171450">
              <a:buFontTx/>
              <a:buChar char="-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Company Secretary </a:t>
            </a:r>
          </a:p>
          <a:p>
            <a:pPr marL="628650" lvl="1" indent="-171450">
              <a:buFontTx/>
              <a:buChar char="-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Directorship</a:t>
            </a:r>
          </a:p>
          <a:p>
            <a:pPr marL="628650" lvl="1" indent="-171450">
              <a:buFontTx/>
              <a:buChar char="-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Regulatory Risk Mitigation</a:t>
            </a:r>
          </a:p>
          <a:p>
            <a:pPr marL="628650" lvl="1" indent="-171450">
              <a:buFontTx/>
              <a:buChar char="-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Regulatory &amp; Financial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Local licenses and permits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Insurances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Recruitment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Employment Passes &amp; Immigration – Singapore</a:t>
            </a:r>
          </a:p>
          <a:p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Key 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Limit liabilities from any potential lawsuits and financial losses.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Optimise tax by leveraging our international comparative tax knowledge.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Simplify Compliance to free up resources for growing business.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Attract investors with a structure internationally recognised for greater stability and transparency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9ED7B0-FC7D-7590-0772-BCCB0A1AC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535" y="639806"/>
            <a:ext cx="1771897" cy="1895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00F4ED-AFE8-4624-0BB0-693EFFAA0FCB}"/>
              </a:ext>
            </a:extLst>
          </p:cNvPr>
          <p:cNvSpPr txBox="1"/>
          <p:nvPr/>
        </p:nvSpPr>
        <p:spPr>
          <a:xfrm>
            <a:off x="6456357" y="1336172"/>
            <a:ext cx="5931016" cy="526297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00"/>
                </a:solidFill>
                <a:latin typeface="Verdana" panose="020B0604030504040204" pitchFamily="34" charset="0"/>
              </a:rPr>
              <a:t>Regulatory Reporting &amp; Advisory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financial Reporting Services,  SFRS, SFRS(I), IFRS(I), ACRA, IRAS, Company Act compliant</a:t>
            </a:r>
          </a:p>
          <a:p>
            <a:pPr algn="ctr"/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Directors’ Report, Financial Statements +Notes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Annual Return and tax filing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Pre-map compliance thresholds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 exemption scenarios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Group Efficiency Package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Minimize clients burdens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benefits:</a:t>
            </a:r>
          </a:p>
          <a:p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b="1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Meet reporting requirement efficiently</a:t>
            </a:r>
          </a:p>
          <a:p>
            <a:r>
              <a:rPr lang="en-GB" sz="1400" b="1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Simplify compliance </a:t>
            </a:r>
          </a:p>
          <a:p>
            <a:r>
              <a:rPr lang="en-GB" sz="1400" b="1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strategic choices, optimum protection, and disclosure controls.</a:t>
            </a:r>
          </a:p>
          <a:p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b="1" dirty="0"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over-reporting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dirty="0"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overload</a:t>
            </a:r>
          </a:p>
          <a:p>
            <a:r>
              <a:rPr lang="en-SG" sz="1400" dirty="0">
                <a:solidFill>
                  <a:srgbClr val="000000"/>
                </a:solidFill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SG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unnecessary disclosure</a:t>
            </a:r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GB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A10BA4-CA3A-E3F4-4E0A-7D05F9C80E68}"/>
              </a:ext>
            </a:extLst>
          </p:cNvPr>
          <p:cNvSpPr/>
          <p:nvPr/>
        </p:nvSpPr>
        <p:spPr>
          <a:xfrm>
            <a:off x="3276047" y="136098"/>
            <a:ext cx="5931017" cy="538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Söhne"/>
              </a:rPr>
              <a:t>Corporate Structuring </a:t>
            </a:r>
            <a:endParaRPr lang="en-GB" sz="2800" b="1" i="0" dirty="0">
              <a:solidFill>
                <a:schemeClr val="tx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202496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A6988A5-F9B4-B486-0301-D01342187119}"/>
              </a:ext>
            </a:extLst>
          </p:cNvPr>
          <p:cNvSpPr/>
          <p:nvPr/>
        </p:nvSpPr>
        <p:spPr>
          <a:xfrm>
            <a:off x="69850" y="606348"/>
            <a:ext cx="12052299" cy="6130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>
              <a:solidFill>
                <a:schemeClr val="tx1"/>
              </a:solidFill>
              <a:latin typeface="Söhne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67A212-6B9D-5699-E29D-004FDF97184B}"/>
              </a:ext>
            </a:extLst>
          </p:cNvPr>
          <p:cNvSpPr txBox="1"/>
          <p:nvPr/>
        </p:nvSpPr>
        <p:spPr>
          <a:xfrm>
            <a:off x="434236" y="2034407"/>
            <a:ext cx="448882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400" b="1" i="0" u="none" strike="noStrike">
                <a:solidFill>
                  <a:srgbClr val="374151"/>
                </a:solidFill>
                <a:effectLst/>
                <a:latin typeface="Times New Roman" panose="02020603050405020304" pitchFamily="18" charset="0"/>
              </a:defRPr>
            </a:lvl1pPr>
            <a:lvl2pPr lvl="1" fontAlgn="ctr">
              <a:defRPr b="0" i="0" u="none" strike="noStrike">
                <a:solidFill>
                  <a:srgbClr val="374151"/>
                </a:solidFill>
                <a:effectLst/>
                <a:latin typeface="Times New Roman" panose="02020603050405020304" pitchFamily="18" charset="0"/>
              </a:defRPr>
            </a:lvl2pPr>
          </a:lstStyle>
          <a:p>
            <a:pPr marL="0" indent="0">
              <a:buNone/>
            </a:pPr>
            <a:endParaRPr lang="en-S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Planning, Budgeting, Forecasting </a:t>
            </a:r>
          </a:p>
          <a:p>
            <a:pPr marL="628650" lvl="2"/>
            <a:r>
              <a:rPr lang="en-SG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Translating vision to strategies, operationalizing strategies to specific execution and performance targets.</a:t>
            </a:r>
          </a:p>
          <a:p>
            <a:r>
              <a:rPr lang="en-S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allocation / Investment prioritization / ROI</a:t>
            </a:r>
          </a:p>
          <a:p>
            <a:r>
              <a:rPr lang="en-S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 &amp; Performance Management</a:t>
            </a:r>
          </a:p>
          <a:p>
            <a:pPr marL="0" indent="0">
              <a:buNone/>
            </a:pPr>
            <a:endParaRPr lang="en-S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 Integrated Dashboard (KPIs identified &amp; tracked)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   Business Model Insight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   Business Drivers (Revenue, Costs) 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 Variance Analysis 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   Profitability 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 Trend Analysis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  Sensitivity Analysis 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    Risk &amp; Opportunity Proactive Management</a:t>
            </a:r>
          </a:p>
          <a:p>
            <a:pPr marL="628650" lvl="2"/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Reporting –Compliant, Efficient, Cost Effective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   Monthly Financial Report 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    Annual Statutory Reporting (SFRS, SFRS(I), IFRS, audit ready)</a:t>
            </a:r>
          </a:p>
          <a:p>
            <a:pPr marL="628650" lvl="2"/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2"/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2"/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AutoShape 2">
            <a:extLst>
              <a:ext uri="{FF2B5EF4-FFF2-40B4-BE49-F238E27FC236}">
                <a16:creationId xmlns:a16="http://schemas.microsoft.com/office/drawing/2014/main" id="{CB77B3A2-DE12-91D8-5DFD-4DC7C72568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9700" y="-412750"/>
            <a:ext cx="133350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16" name="AutoShape 3">
            <a:extLst>
              <a:ext uri="{FF2B5EF4-FFF2-40B4-BE49-F238E27FC236}">
                <a16:creationId xmlns:a16="http://schemas.microsoft.com/office/drawing/2014/main" id="{53CC7432-3F1B-0E7E-283E-DB1D6C25E7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9700" y="-46038"/>
            <a:ext cx="133350" cy="13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22" name="AutoShape 4">
            <a:extLst>
              <a:ext uri="{FF2B5EF4-FFF2-40B4-BE49-F238E27FC236}">
                <a16:creationId xmlns:a16="http://schemas.microsoft.com/office/drawing/2014/main" id="{76FFB4C5-85C1-79D6-AB30-AEF3B59AAF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9700" y="319088"/>
            <a:ext cx="133350" cy="13335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SG">
              <a:solidFill>
                <a:schemeClr val="lt1"/>
              </a:solidFill>
              <a:latin typeface="Söhn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3AB394-FFB6-E15E-37D6-7FA877D0E803}"/>
              </a:ext>
            </a:extLst>
          </p:cNvPr>
          <p:cNvSpPr txBox="1"/>
          <p:nvPr/>
        </p:nvSpPr>
        <p:spPr>
          <a:xfrm>
            <a:off x="5245088" y="1695814"/>
            <a:ext cx="682549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/ Board / Stakeholder Reporting</a:t>
            </a:r>
          </a:p>
          <a:p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Insightful &amp; credible, enabling decision and execution agility and improving confidence of investors / stakeholders</a:t>
            </a:r>
          </a:p>
          <a:p>
            <a:pPr marL="742950" lvl="1" indent="-285750">
              <a:buFontTx/>
              <a:buChar char="-"/>
            </a:pPr>
            <a:endParaRPr lang="en-SG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 Purpose CFO</a:t>
            </a:r>
          </a:p>
          <a:p>
            <a:pPr lvl="2" indent="-285750">
              <a:buFontTx/>
              <a:buChar char="-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SG" sz="1400" b="0" i="0" u="none" strike="noStrike" kern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nvestment proposal / financial projection</a:t>
            </a:r>
          </a:p>
          <a:p>
            <a:pPr marL="628650" lvl="2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  Project Management (PRINCE 2 Practitioner)   </a:t>
            </a:r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indent="-285750">
              <a:buFontTx/>
              <a:buChar char="-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Partnering - Cross-Functional Process / Deliverables Re-engineering</a:t>
            </a:r>
          </a:p>
          <a:p>
            <a:pPr lvl="2" indent="-285750">
              <a:buFontTx/>
              <a:buChar char="-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Partnering - Growth Initiatives</a:t>
            </a:r>
          </a:p>
          <a:p>
            <a:pPr marL="628650" lvl="2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    Scenario modelling &amp; planning</a:t>
            </a:r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indent="-285750">
              <a:buFontTx/>
              <a:buChar char="-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Post M&amp;A Integration, Re-structuring</a:t>
            </a:r>
          </a:p>
          <a:p>
            <a:pPr lvl="2" indent="-285750">
              <a:buFontTx/>
              <a:buChar char="-"/>
            </a:pPr>
            <a:r>
              <a:rPr lang="en-SG" sz="1200" dirty="0">
                <a:latin typeface="Arial" panose="020B0604020202020204" pitchFamily="34" charset="0"/>
                <a:cs typeface="Arial" panose="020B0604020202020204" pitchFamily="34" charset="0"/>
              </a:rPr>
              <a:t>Building FP&amp;A capability</a:t>
            </a:r>
          </a:p>
          <a:p>
            <a:pPr marL="628650" lvl="2"/>
            <a:endParaRPr lang="en-SG" sz="1400" b="0" i="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</a:t>
            </a:r>
          </a:p>
          <a:p>
            <a:pPr lvl="2" indent="-285750">
              <a:buFontTx/>
              <a:buChar char="-"/>
            </a:pPr>
            <a:r>
              <a:rPr lang="en-GB" sz="1400" b="0" i="0" u="none" strike="noStrike" kern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Strategy, Roadmap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Change Management</a:t>
            </a:r>
          </a:p>
          <a:p>
            <a:pPr lvl="2" indent="-285750">
              <a:buFontTx/>
              <a:buChar char="-"/>
            </a:pPr>
            <a:r>
              <a:rPr lang="en-GB" sz="1400" b="0" i="0" u="none" strike="noStrike" kern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Organization / Finance structure and process mapping</a:t>
            </a:r>
            <a:endParaRPr lang="en-SG" sz="1400" b="0" i="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indent="-285750">
              <a:buFontTx/>
              <a:buChar char="-"/>
            </a:pPr>
            <a:r>
              <a:rPr lang="en-GB" sz="1400" b="0" i="0" u="none" strike="noStrike" kern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impact analysis: investment, costs, benefits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&amp;n Transformation: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Productivity – Cost Optimization: Diagnostics, proposals, Roadmaps, change management, tracking</a:t>
            </a:r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A14F82-8755-9E78-6B6C-89C27578364E}"/>
              </a:ext>
            </a:extLst>
          </p:cNvPr>
          <p:cNvSpPr txBox="1"/>
          <p:nvPr/>
        </p:nvSpPr>
        <p:spPr>
          <a:xfrm>
            <a:off x="795445" y="872269"/>
            <a:ext cx="109623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On‑demand C‑suite finance leadership to steer strategy, scale operation, build capability. Innovative &amp; pragmatic solutions tailored to specific needs.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5A94A1-5AE5-18A8-273C-4FF379BB70DA}"/>
              </a:ext>
            </a:extLst>
          </p:cNvPr>
          <p:cNvSpPr/>
          <p:nvPr/>
        </p:nvSpPr>
        <p:spPr>
          <a:xfrm>
            <a:off x="3260549" y="333801"/>
            <a:ext cx="5931017" cy="538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Corbel" panose="020B0503020204020204" pitchFamily="34" charset="0"/>
              </a:rPr>
              <a:t>Fractional CFO </a:t>
            </a:r>
            <a:endParaRPr lang="en-GB" sz="2800" b="1" i="0" dirty="0">
              <a:solidFill>
                <a:schemeClr val="tx1"/>
              </a:solidFill>
              <a:effectLst/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132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9904D-5247-315F-5C62-DFFA833C7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2C9486-42B7-4109-3D33-8DB62C941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882" y="800547"/>
            <a:ext cx="1771897" cy="1895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7B7E92-9699-3DAA-9BBF-A66672D95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535" y="639806"/>
            <a:ext cx="1771897" cy="1895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50C34E-60C9-41CD-FA23-4704850195A2}"/>
              </a:ext>
            </a:extLst>
          </p:cNvPr>
          <p:cNvSpPr txBox="1"/>
          <p:nvPr/>
        </p:nvSpPr>
        <p:spPr>
          <a:xfrm>
            <a:off x="6456357" y="1336172"/>
            <a:ext cx="5931016" cy="526297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00"/>
                </a:solidFill>
                <a:latin typeface="Verdana" panose="020B0604030504040204" pitchFamily="34" charset="0"/>
              </a:rPr>
              <a:t>Regulatory Reporting &amp; Advisory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financial Reporting Services,  SFRS, SFRS(I), IFRS(I), ACRA, IRAS, Company Act compliant</a:t>
            </a:r>
          </a:p>
          <a:p>
            <a:pPr algn="ctr"/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Directors’ Report, Financial Statements +Notes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Annual Return and tax filing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Pre-map compliance thresholds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 exemption scenarios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Group Efficiency Package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Minimize clients burdens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benefits:</a:t>
            </a:r>
          </a:p>
          <a:p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b="1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Meet reporting requirement efficiently</a:t>
            </a:r>
          </a:p>
          <a:p>
            <a:r>
              <a:rPr lang="en-GB" sz="1400" b="1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Simplify compliance </a:t>
            </a:r>
          </a:p>
          <a:p>
            <a:r>
              <a:rPr lang="en-GB" sz="1400" b="1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strategic choices, optimum protection, and disclosure controls.</a:t>
            </a:r>
          </a:p>
          <a:p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b="1" dirty="0"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over-reporting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dirty="0"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overload</a:t>
            </a:r>
          </a:p>
          <a:p>
            <a:r>
              <a:rPr lang="en-SG" sz="1400" dirty="0">
                <a:solidFill>
                  <a:srgbClr val="000000"/>
                </a:solidFill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SG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unnecessary disclosure</a:t>
            </a:r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GB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EB2C9D-2911-1ED3-2FAE-2359F214715C}"/>
              </a:ext>
            </a:extLst>
          </p:cNvPr>
          <p:cNvSpPr/>
          <p:nvPr/>
        </p:nvSpPr>
        <p:spPr>
          <a:xfrm>
            <a:off x="3276047" y="136098"/>
            <a:ext cx="5931017" cy="538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Söhne"/>
              </a:rPr>
              <a:t>Corporate Structuring </a:t>
            </a:r>
            <a:endParaRPr lang="en-GB" sz="2800" b="1" i="0" dirty="0">
              <a:solidFill>
                <a:schemeClr val="tx1"/>
              </a:solidFill>
              <a:effectLst/>
              <a:latin typeface="Söhn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85867-3479-69E9-DF80-A38B85BE79CA}"/>
              </a:ext>
            </a:extLst>
          </p:cNvPr>
          <p:cNvSpPr txBox="1"/>
          <p:nvPr/>
        </p:nvSpPr>
        <p:spPr>
          <a:xfrm>
            <a:off x="629474" y="1587676"/>
            <a:ext cx="4718133" cy="175432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ESG Compliance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Turn </a:t>
            </a:r>
            <a:r>
              <a:rPr lang="en-GB" sz="1800" dirty="0"/>
              <a:t>ESG Compliance: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CSRD Fast‑Track Diagnostic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800" dirty="0"/>
              <a:t>AML Independent Review (CSP‑Act)</a:t>
            </a:r>
          </a:p>
          <a:p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606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04A303-165A-CA4E-E4FB-CAF4BE90DFDE}"/>
              </a:ext>
            </a:extLst>
          </p:cNvPr>
          <p:cNvSpPr txBox="1"/>
          <p:nvPr/>
        </p:nvSpPr>
        <p:spPr>
          <a:xfrm>
            <a:off x="4450784" y="380692"/>
            <a:ext cx="3478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Business Consulting</a:t>
            </a:r>
            <a:endParaRPr lang="en-SG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D4359C-5240-5326-FBC9-E3750724BA89}"/>
              </a:ext>
            </a:extLst>
          </p:cNvPr>
          <p:cNvSpPr txBox="1"/>
          <p:nvPr/>
        </p:nvSpPr>
        <p:spPr>
          <a:xfrm>
            <a:off x="117494" y="4737009"/>
            <a:ext cx="4494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u="sng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Contact us at </a:t>
            </a:r>
            <a:r>
              <a:rPr lang="en-US" altLang="en-US" b="1" u="sng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@IslandCap-g.com</a:t>
            </a: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Open Sans" panose="020B06060305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C12DC5-B841-47B3-01F3-D5FE197AD0CE}"/>
              </a:ext>
            </a:extLst>
          </p:cNvPr>
          <p:cNvSpPr/>
          <p:nvPr/>
        </p:nvSpPr>
        <p:spPr>
          <a:xfrm>
            <a:off x="478306" y="1579223"/>
            <a:ext cx="2815691" cy="55140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CE6C85-E9DC-D9A3-A278-D3812FBACBBB}"/>
              </a:ext>
            </a:extLst>
          </p:cNvPr>
          <p:cNvSpPr txBox="1"/>
          <p:nvPr/>
        </p:nvSpPr>
        <p:spPr>
          <a:xfrm>
            <a:off x="312826" y="1854926"/>
            <a:ext cx="413795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usiness plans and cash flow forecast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process &amp; efficiency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management improvement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management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rganizational structure &amp; re-organization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Market research &amp; Analysis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Mitigating Start-up failure risks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A6B8F-7B25-EF56-134E-0E59AC8FFB4F}"/>
              </a:ext>
            </a:extLst>
          </p:cNvPr>
          <p:cNvSpPr/>
          <p:nvPr/>
        </p:nvSpPr>
        <p:spPr>
          <a:xfrm>
            <a:off x="8368684" y="1564119"/>
            <a:ext cx="2689319" cy="55140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Unique Value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8A7DAC-EC95-787E-68B7-0C7ADC16737C}"/>
              </a:ext>
            </a:extLst>
          </p:cNvPr>
          <p:cNvSpPr txBox="1"/>
          <p:nvPr/>
        </p:nvSpPr>
        <p:spPr>
          <a:xfrm>
            <a:off x="7648508" y="2114121"/>
            <a:ext cx="439204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Proven framework &amp; methodologies identifying and connecting ‘perceived now’ and ‘want to be in future’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ideas to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Bridging strategic thinking with operational excellence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Superb communications, articulation, alignment, collaboration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records of success with: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MNCs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Conglomerates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start-ups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0787C-3729-FE8E-91A4-9B22B6A6E1DA}"/>
              </a:ext>
            </a:extLst>
          </p:cNvPr>
          <p:cNvSpPr txBox="1"/>
          <p:nvPr/>
        </p:nvSpPr>
        <p:spPr>
          <a:xfrm>
            <a:off x="4450784" y="1643377"/>
            <a:ext cx="2562689" cy="369332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lvl="1"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Expertise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FC3B0A-96FC-84AC-A115-9D2A0302ACA5}"/>
              </a:ext>
            </a:extLst>
          </p:cNvPr>
          <p:cNvSpPr txBox="1"/>
          <p:nvPr/>
        </p:nvSpPr>
        <p:spPr>
          <a:xfrm>
            <a:off x="4450784" y="2290597"/>
            <a:ext cx="29489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Served clients in most of Asia, US, Europe, and Middle East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Covered broad range of industries and subjects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Bain &amp; Company experiences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Extensive global knowledge &amp;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766C2C-8631-9303-02E2-6A0E3A2F6AAD}"/>
              </a:ext>
            </a:extLst>
          </p:cNvPr>
          <p:cNvSpPr/>
          <p:nvPr/>
        </p:nvSpPr>
        <p:spPr>
          <a:xfrm>
            <a:off x="4236812" y="1401558"/>
            <a:ext cx="822960" cy="699672"/>
          </a:xfrm>
          <a:prstGeom prst="ellipse">
            <a:avLst/>
          </a:prstGeom>
          <a:solidFill>
            <a:srgbClr val="009E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25</a:t>
            </a:r>
          </a:p>
          <a:p>
            <a:pPr algn="ctr"/>
            <a:r>
              <a:rPr lang="en-GB" sz="1400" b="1" dirty="0"/>
              <a:t>years</a:t>
            </a:r>
            <a:endParaRPr lang="en-SG" sz="1400" b="1" dirty="0"/>
          </a:p>
        </p:txBody>
      </p:sp>
    </p:spTree>
    <p:extLst>
      <p:ext uri="{BB962C8B-B14F-4D97-AF65-F5344CB8AC3E}">
        <p14:creationId xmlns:p14="http://schemas.microsoft.com/office/powerpoint/2010/main" val="2656842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2">
            <a:extLst>
              <a:ext uri="{FF2B5EF4-FFF2-40B4-BE49-F238E27FC236}">
                <a16:creationId xmlns:a16="http://schemas.microsoft.com/office/drawing/2014/main" id="{BAF75498-E4F2-4118-A1B4-FDDDD35E0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7832" y="760122"/>
            <a:ext cx="9464168" cy="4869719"/>
          </a:xfrm>
        </p:spPr>
        <p:txBody>
          <a:bodyPr>
            <a:noAutofit/>
          </a:bodyPr>
          <a:lstStyle/>
          <a:p>
            <a:pPr algn="l"/>
            <a:r>
              <a:rPr lang="en-US" altLang="en-US" sz="1600" dirty="0">
                <a:solidFill>
                  <a:schemeClr val="tx1"/>
                </a:solidFill>
              </a:rPr>
              <a:t>Isabella is an </a:t>
            </a:r>
            <a:r>
              <a:rPr lang="en-US" altLang="zh-CN" sz="1600" dirty="0">
                <a:solidFill>
                  <a:schemeClr val="tx1"/>
                </a:solidFill>
              </a:rPr>
              <a:t>accomplished i</a:t>
            </a:r>
            <a:r>
              <a:rPr lang="en-US" altLang="en-US" sz="1600" dirty="0">
                <a:solidFill>
                  <a:schemeClr val="tx1"/>
                </a:solidFill>
              </a:rPr>
              <a:t>nternational finance and business leader </a:t>
            </a:r>
            <a:r>
              <a:rPr lang="en-GB" sz="1600" dirty="0"/>
              <a:t>with &gt; 20 years of leadership experiences with leading MNCs</a:t>
            </a:r>
            <a:r>
              <a:rPr lang="en-US" altLang="en-US" sz="1600" dirty="0"/>
              <a:t> including </a:t>
            </a:r>
            <a:r>
              <a:rPr lang="en-US" altLang="en-US" sz="1600" dirty="0">
                <a:solidFill>
                  <a:schemeClr val="tx1"/>
                </a:solidFill>
              </a:rPr>
              <a:t>Microsoft, Unilever, Energizer, </a:t>
            </a:r>
            <a:r>
              <a:rPr lang="en-US" altLang="zh-CN" sz="1600" dirty="0"/>
              <a:t>Diageo</a:t>
            </a:r>
            <a:r>
              <a:rPr lang="en-SG" altLang="zh-CN" sz="1600" dirty="0"/>
              <a:t>,</a:t>
            </a:r>
            <a:r>
              <a:rPr lang="zh-CN" altLang="en-US" sz="1600" dirty="0"/>
              <a:t> </a:t>
            </a:r>
            <a:r>
              <a:rPr lang="en-SG" altLang="zh-CN" sz="1600" dirty="0"/>
              <a:t>BAT, Boston Scientific.</a:t>
            </a:r>
          </a:p>
          <a:p>
            <a:pPr algn="l"/>
            <a:endParaRPr lang="en-US" altLang="zh-CN" sz="300" dirty="0">
              <a:solidFill>
                <a:schemeClr val="tx1"/>
              </a:solidFill>
            </a:endParaRPr>
          </a:p>
          <a:p>
            <a:pPr algn="l"/>
            <a:r>
              <a:rPr lang="en-US" altLang="en-US" sz="1600" dirty="0">
                <a:solidFill>
                  <a:schemeClr val="tx1"/>
                </a:solidFill>
              </a:rPr>
              <a:t>She has managed 6 complex regions spanning </a:t>
            </a:r>
            <a:r>
              <a:rPr lang="en-GB" altLang="en-US" sz="1600" dirty="0">
                <a:solidFill>
                  <a:schemeClr val="tx1"/>
                </a:solidFill>
              </a:rPr>
              <a:t>over 40 countries, leading Finance, Strategy, Transformation, Business Process, Governance, and Consulting</a:t>
            </a:r>
            <a:r>
              <a:rPr lang="en-US" altLang="en-US" sz="1600" dirty="0">
                <a:solidFill>
                  <a:schemeClr val="tx1"/>
                </a:solidFill>
              </a:rPr>
              <a:t>.</a:t>
            </a:r>
          </a:p>
          <a:p>
            <a:pPr algn="l"/>
            <a:endParaRPr lang="en-US" altLang="en-US" sz="300" dirty="0">
              <a:solidFill>
                <a:schemeClr val="tx1"/>
              </a:solidFill>
            </a:endParaRPr>
          </a:p>
          <a:p>
            <a:pPr algn="l"/>
            <a:r>
              <a:rPr lang="en-GB" altLang="en-US" sz="1600" dirty="0"/>
              <a:t>Isabella has strong experience in formulating and operationalize strategies, driving execution in collaboration with diverse stakeholders globally to deliver target result. S</a:t>
            </a:r>
            <a:r>
              <a:rPr lang="en-US" altLang="en-US" sz="1600" dirty="0"/>
              <a:t>he has a </a:t>
            </a:r>
            <a:r>
              <a:rPr lang="en-US" altLang="en-US" sz="1600" dirty="0">
                <a:solidFill>
                  <a:schemeClr val="tx1"/>
                </a:solidFill>
              </a:rPr>
              <a:t>track record of success driving profitable growth, turnarounds, investment priorities, transforming strategies, systems, processes, and capabilities</a:t>
            </a:r>
            <a:r>
              <a:rPr lang="en-US" altLang="en-US" sz="1600" dirty="0"/>
              <a:t> for the world’s top-tier companies</a:t>
            </a:r>
            <a:r>
              <a:rPr lang="en-US" altLang="en-US" sz="1600" dirty="0">
                <a:solidFill>
                  <a:schemeClr val="tx1"/>
                </a:solidFill>
              </a:rPr>
              <a:t>.</a:t>
            </a:r>
          </a:p>
          <a:p>
            <a:pPr algn="l"/>
            <a:r>
              <a:rPr lang="en-US" altLang="en-US" sz="1600" dirty="0"/>
              <a:t>In her consulting roles, Isabella </a:t>
            </a:r>
            <a:r>
              <a:rPr lang="en-GB" altLang="en-US" sz="1600" dirty="0"/>
              <a:t>partners with global teams  to scale operations, guide strategies and execution, build operational structure and capability. </a:t>
            </a:r>
            <a:endParaRPr lang="en-US" altLang="en-US" sz="1600" dirty="0">
              <a:solidFill>
                <a:schemeClr val="tx1"/>
              </a:solidFill>
            </a:endParaRPr>
          </a:p>
          <a:p>
            <a:pPr algn="l"/>
            <a:endParaRPr lang="en-US" altLang="en-US" sz="300" dirty="0">
              <a:solidFill>
                <a:schemeClr val="tx1"/>
              </a:solidFill>
            </a:endParaRPr>
          </a:p>
          <a:p>
            <a:pPr algn="l"/>
            <a:r>
              <a:rPr lang="en-GB" altLang="en-US" sz="1600" dirty="0"/>
              <a:t>Isabella is an APAC expert with on-the-ground experience in multiple markets, multilingual (Mandarin, Cantonese, English, Bahasa Indonesia). Leveraging her knowledge and network, she has helped companies </a:t>
            </a:r>
            <a:r>
              <a:rPr lang="en-SG" altLang="en-US" sz="1600" dirty="0"/>
              <a:t>set up and scale international business using Singapore as an international gateway.</a:t>
            </a:r>
            <a:endParaRPr lang="en-US" sz="1600" dirty="0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C6F24550-D8F6-4E7A-804C-6DC559CC0A8B}"/>
              </a:ext>
            </a:extLst>
          </p:cNvPr>
          <p:cNvSpPr txBox="1">
            <a:spLocks/>
          </p:cNvSpPr>
          <p:nvPr/>
        </p:nvSpPr>
        <p:spPr bwMode="auto">
          <a:xfrm>
            <a:off x="-364827" y="3231542"/>
            <a:ext cx="2838734" cy="497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608013" rtl="0" eaLnBrk="0" fontAlgn="base" hangingPunct="0">
              <a:spcBef>
                <a:spcPct val="0"/>
              </a:spcBef>
              <a:spcAft>
                <a:spcPct val="0"/>
              </a:spcAft>
              <a:defRPr sz="5800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defTabSz="608013" rtl="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2pPr>
            <a:lvl3pPr algn="ctr" defTabSz="608013" rtl="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3pPr>
            <a:lvl4pPr algn="ctr" defTabSz="608013" rtl="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4pPr>
            <a:lvl5pPr algn="ctr" defTabSz="608013" rtl="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defTabSz="608013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608013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608013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608013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MS PGothic" panose="020B0600070205080204" pitchFamily="34" charset="-128"/>
              </a:rPr>
              <a:t>Isabella Lan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MS PGothic" panose="020B0600070205080204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1EACE-0978-2D42-94DD-B3942B6951E2}"/>
              </a:ext>
            </a:extLst>
          </p:cNvPr>
          <p:cNvSpPr txBox="1"/>
          <p:nvPr/>
        </p:nvSpPr>
        <p:spPr>
          <a:xfrm>
            <a:off x="0" y="4008438"/>
            <a:ext cx="2211754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SG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  <a:hlinkClick r:id="rId2"/>
              </a:rPr>
              <a:t>https://www.linkedin.com/in/isabellalan/</a:t>
            </a:r>
            <a:endParaRPr lang="en-SG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C4E12E-D9B2-51C3-E5B6-DFCD1E7004FA}"/>
              </a:ext>
            </a:extLst>
          </p:cNvPr>
          <p:cNvSpPr txBox="1"/>
          <p:nvPr/>
        </p:nvSpPr>
        <p:spPr>
          <a:xfrm>
            <a:off x="4163379" y="167734"/>
            <a:ext cx="62932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</a:rPr>
              <a:t>FORTUNE 500 &amp; </a:t>
            </a:r>
            <a:r>
              <a:rPr lang="en-GB" b="1" dirty="0">
                <a:solidFill>
                  <a:srgbClr val="000000"/>
                </a:solidFill>
                <a:latin typeface="Calibri" panose="020F0502020204030204" pitchFamily="34" charset="0"/>
              </a:rPr>
              <a:t>ENTREPRENEURIAL 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LEADER</a:t>
            </a:r>
          </a:p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In Finance, Strategy, Business Development, Transformation</a:t>
            </a:r>
            <a:endParaRPr lang="en-SG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255892-E49C-784A-3010-EFE18CF12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6" y="200034"/>
            <a:ext cx="2267909" cy="296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848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E364EE-1751-D8EB-139C-AF03344F8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097" y="163774"/>
            <a:ext cx="7131007" cy="621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34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74509</TotalTime>
  <Words>1131</Words>
  <Application>Microsoft Office PowerPoint</Application>
  <PresentationFormat>Widescreen</PresentationFormat>
  <Paragraphs>198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Söhne</vt:lpstr>
      <vt:lpstr>Arial</vt:lpstr>
      <vt:lpstr>Calibri</vt:lpstr>
      <vt:lpstr>Calibri Light</vt:lpstr>
      <vt:lpstr>Corbel</vt:lpstr>
      <vt:lpstr>Verdana</vt:lpstr>
      <vt:lpstr>Office Theme</vt:lpstr>
      <vt:lpstr>logo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These are companies I’ve worked with as senior international leader – CFO, Regional Finance Director, Regional Strategy Lead, Transformation lead,, company director,, various committee chairman and member. Please advise how best to display these on the website – as experience or companies we’ve worked with, or credibility of global leading companies (Mostly) and growing SMEs (- only 3: Kingfisher, Navitas, JCS)</vt:lpstr>
      <vt:lpstr>These are clients my other partner has worked with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Long</dc:creator>
  <cp:lastModifiedBy>Isa Lan</cp:lastModifiedBy>
  <cp:revision>812</cp:revision>
  <dcterms:created xsi:type="dcterms:W3CDTF">2016-01-31T09:35:46Z</dcterms:created>
  <dcterms:modified xsi:type="dcterms:W3CDTF">2026-03-27T00:35:47Z</dcterms:modified>
</cp:coreProperties>
</file>