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13"/>
  </p:notesMasterIdLst>
  <p:sldIdLst>
    <p:sldId id="691" r:id="rId2"/>
    <p:sldId id="680" r:id="rId3"/>
    <p:sldId id="679" r:id="rId4"/>
    <p:sldId id="684" r:id="rId5"/>
    <p:sldId id="689" r:id="rId6"/>
    <p:sldId id="690" r:id="rId7"/>
    <p:sldId id="687" r:id="rId8"/>
    <p:sldId id="651" r:id="rId9"/>
    <p:sldId id="688" r:id="rId10"/>
    <p:sldId id="676" r:id="rId11"/>
    <p:sldId id="6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47"/>
    <a:srgbClr val="7EDFFA"/>
    <a:srgbClr val="273C18"/>
    <a:srgbClr val="213315"/>
    <a:srgbClr val="002D86"/>
    <a:srgbClr val="403B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778" autoAdjust="0"/>
    <p:restoredTop sz="95293" autoAdjust="0"/>
  </p:normalViewPr>
  <p:slideViewPr>
    <p:cSldViewPr snapToGrid="0">
      <p:cViewPr varScale="1">
        <p:scale>
          <a:sx n="51" d="100"/>
          <a:sy n="51" d="100"/>
        </p:scale>
        <p:origin x="58" y="521"/>
      </p:cViewPr>
      <p:guideLst>
        <p:guide orient="horz" pos="2160"/>
        <p:guide pos="3840"/>
      </p:guideLst>
    </p:cSldViewPr>
  </p:slideViewPr>
  <p:notesTextViewPr>
    <p:cViewPr>
      <p:scale>
        <a:sx n="1" d="1"/>
        <a:sy n="1" d="1"/>
      </p:scale>
      <p:origin x="0" y="0"/>
    </p:cViewPr>
  </p:notesTextViewPr>
  <p:sorterViewPr>
    <p:cViewPr>
      <p:scale>
        <a:sx n="100" d="100"/>
        <a:sy n="100" d="100"/>
      </p:scale>
      <p:origin x="0" y="-377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 Lan" userId="945ba5853d06cfb5" providerId="LiveId" clId="{4BF6D3D9-5CF5-48F0-AB96-70EE9B74F7F8}"/>
    <pc:docChg chg="undo custSel addSld delSld modSld">
      <pc:chgData name="Isa Lan" userId="945ba5853d06cfb5" providerId="LiveId" clId="{4BF6D3D9-5CF5-48F0-AB96-70EE9B74F7F8}" dt="2026-02-21T16:30:08.103" v="27" actId="20577"/>
      <pc:docMkLst>
        <pc:docMk/>
      </pc:docMkLst>
      <pc:sldChg chg="modSp mod">
        <pc:chgData name="Isa Lan" userId="945ba5853d06cfb5" providerId="LiveId" clId="{4BF6D3D9-5CF5-48F0-AB96-70EE9B74F7F8}" dt="2026-02-21T16:30:08.103" v="27" actId="20577"/>
        <pc:sldMkLst>
          <pc:docMk/>
          <pc:sldMk cId="3400848985" sldId="668"/>
        </pc:sldMkLst>
        <pc:spChg chg="mod">
          <ac:chgData name="Isa Lan" userId="945ba5853d06cfb5" providerId="LiveId" clId="{4BF6D3D9-5CF5-48F0-AB96-70EE9B74F7F8}" dt="2026-02-21T16:30:08.103" v="27" actId="20577"/>
          <ac:spMkLst>
            <pc:docMk/>
            <pc:sldMk cId="3400848985" sldId="668"/>
            <ac:spMk id="4" creationId="{F1C4E12E-D9B2-51C3-E5B6-DFCD1E7004FA}"/>
          </ac:spMkLst>
        </pc:spChg>
      </pc:sldChg>
      <pc:sldChg chg="add del">
        <pc:chgData name="Isa Lan" userId="945ba5853d06cfb5" providerId="LiveId" clId="{4BF6D3D9-5CF5-48F0-AB96-70EE9B74F7F8}" dt="2026-02-21T16:28:02.639" v="1" actId="47"/>
        <pc:sldMkLst>
          <pc:docMk/>
          <pc:sldMk cId="795794364" sldId="680"/>
        </pc:sldMkLst>
      </pc:sldChg>
      <pc:sldChg chg="del">
        <pc:chgData name="Isa Lan" userId="945ba5853d06cfb5" providerId="LiveId" clId="{4BF6D3D9-5CF5-48F0-AB96-70EE9B74F7F8}" dt="2026-02-21T16:28:12.561" v="2" actId="47"/>
        <pc:sldMkLst>
          <pc:docMk/>
          <pc:sldMk cId="3913334000" sldId="6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964528-3FDA-4475-A55F-4C1868C93AC8}"/>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3" name="Date Placeholder 2">
            <a:extLst>
              <a:ext uri="{FF2B5EF4-FFF2-40B4-BE49-F238E27FC236}">
                <a16:creationId xmlns:a16="http://schemas.microsoft.com/office/drawing/2014/main" id="{FDF522B0-5A05-495E-B745-75B003C46839}"/>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CE18F2FA-7FA7-47F6-B110-F9ECB57F3A28}" type="datetime1">
              <a:rPr lang="en-US" altLang="en-US"/>
              <a:pPr>
                <a:defRPr/>
              </a:pPr>
              <a:t>2/21/2026</a:t>
            </a:fld>
            <a:endParaRPr lang="en-US" altLang="en-US"/>
          </a:p>
        </p:txBody>
      </p:sp>
      <p:sp>
        <p:nvSpPr>
          <p:cNvPr id="4" name="Slide Image Placeholder 3">
            <a:extLst>
              <a:ext uri="{FF2B5EF4-FFF2-40B4-BE49-F238E27FC236}">
                <a16:creationId xmlns:a16="http://schemas.microsoft.com/office/drawing/2014/main" id="{845E14FC-BC62-4AE7-96E6-BF70324992B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altLang="en-US" noProof="0"/>
          </a:p>
        </p:txBody>
      </p:sp>
      <p:sp>
        <p:nvSpPr>
          <p:cNvPr id="5" name="Notes Placeholder 4">
            <a:extLst>
              <a:ext uri="{FF2B5EF4-FFF2-40B4-BE49-F238E27FC236}">
                <a16:creationId xmlns:a16="http://schemas.microsoft.com/office/drawing/2014/main" id="{73902F28-A6E5-4EAB-B5D3-36BF37DD3ED3}"/>
              </a:ext>
            </a:extLst>
          </p:cNvPr>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6" name="Footer Placeholder 5">
            <a:extLst>
              <a:ext uri="{FF2B5EF4-FFF2-40B4-BE49-F238E27FC236}">
                <a16:creationId xmlns:a16="http://schemas.microsoft.com/office/drawing/2014/main" id="{72180227-ACF7-41EE-9F24-F038256DB235}"/>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7" name="Slide Number Placeholder 6">
            <a:extLst>
              <a:ext uri="{FF2B5EF4-FFF2-40B4-BE49-F238E27FC236}">
                <a16:creationId xmlns:a16="http://schemas.microsoft.com/office/drawing/2014/main" id="{E07EFF2C-372E-4E7C-B49B-BA6FB22B1723}"/>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4129D1B-662E-4784-9250-876C866FE90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24129D1B-662E-4784-9250-876C866FE900}" type="slidenum">
              <a:rPr lang="en-US" altLang="en-US" smtClean="0"/>
              <a:pPr>
                <a:defRPr/>
              </a:pPr>
              <a:t>1</a:t>
            </a:fld>
            <a:endParaRPr lang="en-US" altLang="en-US"/>
          </a:p>
        </p:txBody>
      </p:sp>
    </p:spTree>
    <p:extLst>
      <p:ext uri="{BB962C8B-B14F-4D97-AF65-F5344CB8AC3E}">
        <p14:creationId xmlns:p14="http://schemas.microsoft.com/office/powerpoint/2010/main" val="3102983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C3366-43BB-CDBC-BA2C-FFCED0DC28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356D607C-399A-0FAF-B405-22679D713C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B590EC4-A136-2586-B4D2-429EEC1B4EAA}"/>
              </a:ext>
            </a:extLst>
          </p:cNvPr>
          <p:cNvSpPr>
            <a:spLocks noGrp="1"/>
          </p:cNvSpPr>
          <p:nvPr>
            <p:ph type="dt" sz="half" idx="10"/>
          </p:nvPr>
        </p:nvSpPr>
        <p:spPr/>
        <p:txBody>
          <a:bodyPr/>
          <a:lstStyle/>
          <a:p>
            <a:pPr>
              <a:defRPr/>
            </a:pPr>
            <a:fld id="{AF2FD216-5B56-4F89-9733-3F2F30140562}" type="datetime1">
              <a:rPr lang="en-US" altLang="en-US" smtClean="0"/>
              <a:pPr>
                <a:defRPr/>
              </a:pPr>
              <a:t>2/21/2026</a:t>
            </a:fld>
            <a:endParaRPr lang="en-US" altLang="en-US"/>
          </a:p>
        </p:txBody>
      </p:sp>
      <p:sp>
        <p:nvSpPr>
          <p:cNvPr id="5" name="Footer Placeholder 4">
            <a:extLst>
              <a:ext uri="{FF2B5EF4-FFF2-40B4-BE49-F238E27FC236}">
                <a16:creationId xmlns:a16="http://schemas.microsoft.com/office/drawing/2014/main" id="{8DEC9633-02B2-CB6F-CF70-D3988EB34CBB}"/>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797F0C64-C587-7E62-8D39-8CDC0F74B80E}"/>
              </a:ext>
            </a:extLst>
          </p:cNvPr>
          <p:cNvSpPr>
            <a:spLocks noGrp="1"/>
          </p:cNvSpPr>
          <p:nvPr>
            <p:ph type="sldNum" sz="quarter" idx="12"/>
          </p:nvPr>
        </p:nvSpPr>
        <p:spPr/>
        <p:txBody>
          <a:bodyPr/>
          <a:lstStyle/>
          <a:p>
            <a:pPr>
              <a:defRPr/>
            </a:pPr>
            <a:fld id="{3EF0A95A-375B-4F7A-AB78-753092178FDA}" type="slidenum">
              <a:rPr lang="en-US" altLang="en-US" smtClean="0"/>
              <a:pPr>
                <a:defRPr/>
              </a:pPr>
              <a:t>‹#›</a:t>
            </a:fld>
            <a:endParaRPr lang="en-US" altLang="en-US"/>
          </a:p>
        </p:txBody>
      </p:sp>
    </p:spTree>
    <p:extLst>
      <p:ext uri="{BB962C8B-B14F-4D97-AF65-F5344CB8AC3E}">
        <p14:creationId xmlns:p14="http://schemas.microsoft.com/office/powerpoint/2010/main" val="1886653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DA26-1080-6FDC-A2DB-2281537B810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E4F9B48-9EA7-8BE6-81A4-46885C1D37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E8518A8-862A-176F-7EDE-58AB6FDC79E2}"/>
              </a:ext>
            </a:extLst>
          </p:cNvPr>
          <p:cNvSpPr>
            <a:spLocks noGrp="1"/>
          </p:cNvSpPr>
          <p:nvPr>
            <p:ph type="dt" sz="half" idx="10"/>
          </p:nvPr>
        </p:nvSpPr>
        <p:spPr/>
        <p:txBody>
          <a:bodyPr/>
          <a:lstStyle/>
          <a:p>
            <a:pPr>
              <a:defRPr/>
            </a:pPr>
            <a:fld id="{3FED865E-CF20-4677-9FF7-9CFF5A0C0E96}" type="datetime1">
              <a:rPr lang="en-US" altLang="en-US" smtClean="0"/>
              <a:pPr>
                <a:defRPr/>
              </a:pPr>
              <a:t>2/21/2026</a:t>
            </a:fld>
            <a:endParaRPr lang="en-US" altLang="en-US"/>
          </a:p>
        </p:txBody>
      </p:sp>
      <p:sp>
        <p:nvSpPr>
          <p:cNvPr id="5" name="Footer Placeholder 4">
            <a:extLst>
              <a:ext uri="{FF2B5EF4-FFF2-40B4-BE49-F238E27FC236}">
                <a16:creationId xmlns:a16="http://schemas.microsoft.com/office/drawing/2014/main" id="{C76D442C-CCD6-40AD-77F6-CC5F95BCB568}"/>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561C3612-867D-9D52-F71C-78A708D631EA}"/>
              </a:ext>
            </a:extLst>
          </p:cNvPr>
          <p:cNvSpPr>
            <a:spLocks noGrp="1"/>
          </p:cNvSpPr>
          <p:nvPr>
            <p:ph type="sldNum" sz="quarter" idx="12"/>
          </p:nvPr>
        </p:nvSpPr>
        <p:spPr/>
        <p:txBody>
          <a:bodyPr/>
          <a:lstStyle/>
          <a:p>
            <a:pPr>
              <a:defRPr/>
            </a:pPr>
            <a:fld id="{1604BF6A-40FC-4C2F-AE2A-46769E53A1EF}" type="slidenum">
              <a:rPr lang="en-US" altLang="en-US" smtClean="0"/>
              <a:pPr>
                <a:defRPr/>
              </a:pPr>
              <a:t>‹#›</a:t>
            </a:fld>
            <a:endParaRPr lang="en-US" altLang="en-US"/>
          </a:p>
        </p:txBody>
      </p:sp>
    </p:spTree>
    <p:extLst>
      <p:ext uri="{BB962C8B-B14F-4D97-AF65-F5344CB8AC3E}">
        <p14:creationId xmlns:p14="http://schemas.microsoft.com/office/powerpoint/2010/main" val="3231808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9DAB-CDD2-44BC-1571-05AAEF43C6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39E7B478-FC69-FBDE-8C32-99AB865740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A56C60-0179-709E-9F25-8547135222F1}"/>
              </a:ext>
            </a:extLst>
          </p:cNvPr>
          <p:cNvSpPr>
            <a:spLocks noGrp="1"/>
          </p:cNvSpPr>
          <p:nvPr>
            <p:ph type="dt" sz="half" idx="10"/>
          </p:nvPr>
        </p:nvSpPr>
        <p:spPr/>
        <p:txBody>
          <a:bodyPr/>
          <a:lstStyle/>
          <a:p>
            <a:pPr>
              <a:defRPr/>
            </a:pPr>
            <a:fld id="{BBC290F7-CE3A-4D57-9482-7BDE8A6CAAAD}" type="datetime1">
              <a:rPr lang="en-US" altLang="en-US" smtClean="0"/>
              <a:pPr>
                <a:defRPr/>
              </a:pPr>
              <a:t>2/21/2026</a:t>
            </a:fld>
            <a:endParaRPr lang="en-US" altLang="en-US"/>
          </a:p>
        </p:txBody>
      </p:sp>
      <p:sp>
        <p:nvSpPr>
          <p:cNvPr id="5" name="Footer Placeholder 4">
            <a:extLst>
              <a:ext uri="{FF2B5EF4-FFF2-40B4-BE49-F238E27FC236}">
                <a16:creationId xmlns:a16="http://schemas.microsoft.com/office/drawing/2014/main" id="{02EE17CC-F11C-3DB6-8851-40B0EBC5C3C7}"/>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1A928079-6C5B-7F27-DD80-065DC463A9DE}"/>
              </a:ext>
            </a:extLst>
          </p:cNvPr>
          <p:cNvSpPr>
            <a:spLocks noGrp="1"/>
          </p:cNvSpPr>
          <p:nvPr>
            <p:ph type="sldNum" sz="quarter" idx="12"/>
          </p:nvPr>
        </p:nvSpPr>
        <p:spPr/>
        <p:txBody>
          <a:bodyPr/>
          <a:lstStyle/>
          <a:p>
            <a:pPr>
              <a:defRPr/>
            </a:pPr>
            <a:fld id="{0170EDC4-9AE3-4F22-AD00-0C8F95641203}" type="slidenum">
              <a:rPr lang="en-US" altLang="en-US" smtClean="0"/>
              <a:pPr>
                <a:defRPr/>
              </a:pPr>
              <a:t>‹#›</a:t>
            </a:fld>
            <a:endParaRPr lang="en-US" altLang="en-US"/>
          </a:p>
        </p:txBody>
      </p:sp>
    </p:spTree>
    <p:extLst>
      <p:ext uri="{BB962C8B-B14F-4D97-AF65-F5344CB8AC3E}">
        <p14:creationId xmlns:p14="http://schemas.microsoft.com/office/powerpoint/2010/main" val="1975386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CD95-C647-84F3-575B-8FED8E128A5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24452ADC-AA24-4256-FD2A-F9F5CF1149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EBF96D6D-1A78-E3C0-50D4-D44623B8A7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ACD5BD93-D8FC-1359-4D05-E1D3482D717C}"/>
              </a:ext>
            </a:extLst>
          </p:cNvPr>
          <p:cNvSpPr>
            <a:spLocks noGrp="1"/>
          </p:cNvSpPr>
          <p:nvPr>
            <p:ph type="dt" sz="half" idx="10"/>
          </p:nvPr>
        </p:nvSpPr>
        <p:spPr/>
        <p:txBody>
          <a:bodyPr/>
          <a:lstStyle/>
          <a:p>
            <a:pPr>
              <a:defRPr/>
            </a:pPr>
            <a:fld id="{7ED7024F-83B3-466B-9A49-4DF482636C90}" type="datetime1">
              <a:rPr lang="en-US" altLang="en-US" smtClean="0"/>
              <a:pPr>
                <a:defRPr/>
              </a:pPr>
              <a:t>2/21/2026</a:t>
            </a:fld>
            <a:endParaRPr lang="en-US" altLang="en-US"/>
          </a:p>
        </p:txBody>
      </p:sp>
      <p:sp>
        <p:nvSpPr>
          <p:cNvPr id="6" name="Footer Placeholder 5">
            <a:extLst>
              <a:ext uri="{FF2B5EF4-FFF2-40B4-BE49-F238E27FC236}">
                <a16:creationId xmlns:a16="http://schemas.microsoft.com/office/drawing/2014/main" id="{EA3C86AE-91A1-4D7F-FF21-4386D1C8C150}"/>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5CA0D306-9FF4-EEF3-D527-14DE097782E6}"/>
              </a:ext>
            </a:extLst>
          </p:cNvPr>
          <p:cNvSpPr>
            <a:spLocks noGrp="1"/>
          </p:cNvSpPr>
          <p:nvPr>
            <p:ph type="sldNum" sz="quarter" idx="12"/>
          </p:nvPr>
        </p:nvSpPr>
        <p:spPr/>
        <p:txBody>
          <a:bodyPr/>
          <a:lstStyle/>
          <a:p>
            <a:pPr>
              <a:defRPr/>
            </a:pPr>
            <a:fld id="{8E5A23C2-C32C-4B63-9416-81404F212707}" type="slidenum">
              <a:rPr lang="en-US" altLang="en-US" smtClean="0"/>
              <a:pPr>
                <a:defRPr/>
              </a:pPr>
              <a:t>‹#›</a:t>
            </a:fld>
            <a:endParaRPr lang="en-US" altLang="en-US"/>
          </a:p>
        </p:txBody>
      </p:sp>
    </p:spTree>
    <p:extLst>
      <p:ext uri="{BB962C8B-B14F-4D97-AF65-F5344CB8AC3E}">
        <p14:creationId xmlns:p14="http://schemas.microsoft.com/office/powerpoint/2010/main" val="434024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FD540-12AB-F36A-A9A1-335BD45A8849}"/>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9061787-092A-38B7-958B-43E8F0828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4EE1E5-D697-1EA6-D2A6-B131C973D5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2A47BE20-777D-7176-6323-A83297211A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AB31BD-7C13-DF02-D371-21FF9E4653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A45A4E08-F4B1-646E-1367-6AE027CB6362}"/>
              </a:ext>
            </a:extLst>
          </p:cNvPr>
          <p:cNvSpPr>
            <a:spLocks noGrp="1"/>
          </p:cNvSpPr>
          <p:nvPr>
            <p:ph type="dt" sz="half" idx="10"/>
          </p:nvPr>
        </p:nvSpPr>
        <p:spPr/>
        <p:txBody>
          <a:bodyPr/>
          <a:lstStyle/>
          <a:p>
            <a:pPr>
              <a:defRPr/>
            </a:pPr>
            <a:fld id="{8786D23F-517C-487F-ADE1-6574F1D58A21}" type="datetime1">
              <a:rPr lang="en-US" altLang="en-US" smtClean="0"/>
              <a:pPr>
                <a:defRPr/>
              </a:pPr>
              <a:t>2/21/2026</a:t>
            </a:fld>
            <a:endParaRPr lang="en-US" altLang="en-US"/>
          </a:p>
        </p:txBody>
      </p:sp>
      <p:sp>
        <p:nvSpPr>
          <p:cNvPr id="8" name="Footer Placeholder 7">
            <a:extLst>
              <a:ext uri="{FF2B5EF4-FFF2-40B4-BE49-F238E27FC236}">
                <a16:creationId xmlns:a16="http://schemas.microsoft.com/office/drawing/2014/main" id="{12B4F38C-39CD-F2DF-3765-C4652D2BD016}"/>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B8B98E13-E12D-83F2-9BD3-DE095AEFE7BD}"/>
              </a:ext>
            </a:extLst>
          </p:cNvPr>
          <p:cNvSpPr>
            <a:spLocks noGrp="1"/>
          </p:cNvSpPr>
          <p:nvPr>
            <p:ph type="sldNum" sz="quarter" idx="12"/>
          </p:nvPr>
        </p:nvSpPr>
        <p:spPr/>
        <p:txBody>
          <a:bodyPr/>
          <a:lstStyle/>
          <a:p>
            <a:pPr>
              <a:defRPr/>
            </a:pPr>
            <a:fld id="{E6E051C5-9D3E-4CE6-A40B-839193DB0AD2}" type="slidenum">
              <a:rPr lang="en-US" altLang="en-US" smtClean="0"/>
              <a:pPr>
                <a:defRPr/>
              </a:pPr>
              <a:t>‹#›</a:t>
            </a:fld>
            <a:endParaRPr lang="en-US" altLang="en-US"/>
          </a:p>
        </p:txBody>
      </p:sp>
    </p:spTree>
    <p:extLst>
      <p:ext uri="{BB962C8B-B14F-4D97-AF65-F5344CB8AC3E}">
        <p14:creationId xmlns:p14="http://schemas.microsoft.com/office/powerpoint/2010/main" val="247788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93CF8-4546-2807-4409-BE57520C2B6C}"/>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592DC6C3-2449-11D2-980D-9A4BAFF675F0}"/>
              </a:ext>
            </a:extLst>
          </p:cNvPr>
          <p:cNvSpPr>
            <a:spLocks noGrp="1"/>
          </p:cNvSpPr>
          <p:nvPr>
            <p:ph type="dt" sz="half" idx="10"/>
          </p:nvPr>
        </p:nvSpPr>
        <p:spPr/>
        <p:txBody>
          <a:bodyPr/>
          <a:lstStyle/>
          <a:p>
            <a:pPr>
              <a:defRPr/>
            </a:pPr>
            <a:fld id="{3105B508-3906-4CF7-9BCA-1F06466F15F9}" type="datetime1">
              <a:rPr lang="en-US" altLang="en-US" smtClean="0"/>
              <a:pPr>
                <a:defRPr/>
              </a:pPr>
              <a:t>2/21/2026</a:t>
            </a:fld>
            <a:endParaRPr lang="en-US" altLang="en-US"/>
          </a:p>
        </p:txBody>
      </p:sp>
      <p:sp>
        <p:nvSpPr>
          <p:cNvPr id="4" name="Footer Placeholder 3">
            <a:extLst>
              <a:ext uri="{FF2B5EF4-FFF2-40B4-BE49-F238E27FC236}">
                <a16:creationId xmlns:a16="http://schemas.microsoft.com/office/drawing/2014/main" id="{0DD88CF6-2486-6F73-32DD-6F00B8ED8F72}"/>
              </a:ext>
            </a:extLst>
          </p:cNvPr>
          <p:cNvSpPr>
            <a:spLocks noGrp="1"/>
          </p:cNvSpPr>
          <p:nvPr>
            <p:ph type="ftr" sz="quarter" idx="11"/>
          </p:nvPr>
        </p:nvSpPr>
        <p:spPr/>
        <p:txBody>
          <a:bodyPr/>
          <a:lstStyle/>
          <a:p>
            <a:pPr>
              <a:defRPr/>
            </a:pPr>
            <a:endParaRPr lang="en-US" altLang="en-US"/>
          </a:p>
        </p:txBody>
      </p:sp>
      <p:sp>
        <p:nvSpPr>
          <p:cNvPr id="5" name="Slide Number Placeholder 4">
            <a:extLst>
              <a:ext uri="{FF2B5EF4-FFF2-40B4-BE49-F238E27FC236}">
                <a16:creationId xmlns:a16="http://schemas.microsoft.com/office/drawing/2014/main" id="{4EA0149F-8A9D-5E30-9208-169A5D61E85A}"/>
              </a:ext>
            </a:extLst>
          </p:cNvPr>
          <p:cNvSpPr>
            <a:spLocks noGrp="1"/>
          </p:cNvSpPr>
          <p:nvPr>
            <p:ph type="sldNum" sz="quarter" idx="12"/>
          </p:nvPr>
        </p:nvSpPr>
        <p:spPr/>
        <p:txBody>
          <a:bodyPr/>
          <a:lstStyle/>
          <a:p>
            <a:pPr>
              <a:defRPr/>
            </a:pPr>
            <a:fld id="{AA34CD0C-54C6-4CAE-991F-C23CEEDE463E}" type="slidenum">
              <a:rPr lang="en-US" altLang="en-US" smtClean="0"/>
              <a:pPr>
                <a:defRPr/>
              </a:pPr>
              <a:t>‹#›</a:t>
            </a:fld>
            <a:endParaRPr lang="en-US" altLang="en-US"/>
          </a:p>
        </p:txBody>
      </p:sp>
    </p:spTree>
    <p:extLst>
      <p:ext uri="{BB962C8B-B14F-4D97-AF65-F5344CB8AC3E}">
        <p14:creationId xmlns:p14="http://schemas.microsoft.com/office/powerpoint/2010/main" val="2883184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3EEC62-8FF4-0B89-2597-13116E9EA066}"/>
              </a:ext>
            </a:extLst>
          </p:cNvPr>
          <p:cNvSpPr>
            <a:spLocks noGrp="1"/>
          </p:cNvSpPr>
          <p:nvPr>
            <p:ph type="dt" sz="half" idx="10"/>
          </p:nvPr>
        </p:nvSpPr>
        <p:spPr/>
        <p:txBody>
          <a:bodyPr/>
          <a:lstStyle/>
          <a:p>
            <a:pPr>
              <a:defRPr/>
            </a:pPr>
            <a:fld id="{431A4544-611F-4EBC-976B-62C0DEFFF813}" type="datetime1">
              <a:rPr lang="en-US" altLang="en-US" smtClean="0"/>
              <a:pPr>
                <a:defRPr/>
              </a:pPr>
              <a:t>2/21/2026</a:t>
            </a:fld>
            <a:endParaRPr lang="en-US" altLang="en-US"/>
          </a:p>
        </p:txBody>
      </p:sp>
      <p:sp>
        <p:nvSpPr>
          <p:cNvPr id="3" name="Footer Placeholder 2">
            <a:extLst>
              <a:ext uri="{FF2B5EF4-FFF2-40B4-BE49-F238E27FC236}">
                <a16:creationId xmlns:a16="http://schemas.microsoft.com/office/drawing/2014/main" id="{72E20C93-6709-70D1-B12F-DAFCEB2E6CA6}"/>
              </a:ext>
            </a:extLst>
          </p:cNvPr>
          <p:cNvSpPr>
            <a:spLocks noGrp="1"/>
          </p:cNvSpPr>
          <p:nvPr>
            <p:ph type="ftr" sz="quarter" idx="11"/>
          </p:nvPr>
        </p:nvSpPr>
        <p:spPr/>
        <p:txBody>
          <a:bodyPr/>
          <a:lstStyle/>
          <a:p>
            <a:pPr>
              <a:defRPr/>
            </a:pPr>
            <a:endParaRPr lang="en-US" altLang="en-US"/>
          </a:p>
        </p:txBody>
      </p:sp>
      <p:sp>
        <p:nvSpPr>
          <p:cNvPr id="4" name="Slide Number Placeholder 3">
            <a:extLst>
              <a:ext uri="{FF2B5EF4-FFF2-40B4-BE49-F238E27FC236}">
                <a16:creationId xmlns:a16="http://schemas.microsoft.com/office/drawing/2014/main" id="{E8029DB4-B99F-A33B-DA32-381B78F6B92A}"/>
              </a:ext>
            </a:extLst>
          </p:cNvPr>
          <p:cNvSpPr>
            <a:spLocks noGrp="1"/>
          </p:cNvSpPr>
          <p:nvPr>
            <p:ph type="sldNum" sz="quarter" idx="12"/>
          </p:nvPr>
        </p:nvSpPr>
        <p:spPr/>
        <p:txBody>
          <a:bodyPr/>
          <a:lstStyle/>
          <a:p>
            <a:pPr>
              <a:defRPr/>
            </a:pPr>
            <a:fld id="{866A9314-2C4A-4F99-B182-BF3A15F25338}" type="slidenum">
              <a:rPr lang="en-US" altLang="en-US" smtClean="0"/>
              <a:pPr>
                <a:defRPr/>
              </a:pPr>
              <a:t>‹#›</a:t>
            </a:fld>
            <a:endParaRPr lang="en-US" altLang="en-US"/>
          </a:p>
        </p:txBody>
      </p:sp>
    </p:spTree>
    <p:extLst>
      <p:ext uri="{BB962C8B-B14F-4D97-AF65-F5344CB8AC3E}">
        <p14:creationId xmlns:p14="http://schemas.microsoft.com/office/powerpoint/2010/main" val="677552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CE011-DB40-6C11-20AE-3D8080167F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D12DFC0E-4330-1DD1-0B3C-EB0204F1E1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E0F9983B-4CC6-9733-35F8-A819013D0E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827922-36FE-3675-0C75-C38BC2FC9648}"/>
              </a:ext>
            </a:extLst>
          </p:cNvPr>
          <p:cNvSpPr>
            <a:spLocks noGrp="1"/>
          </p:cNvSpPr>
          <p:nvPr>
            <p:ph type="dt" sz="half" idx="10"/>
          </p:nvPr>
        </p:nvSpPr>
        <p:spPr/>
        <p:txBody>
          <a:bodyPr/>
          <a:lstStyle/>
          <a:p>
            <a:pPr>
              <a:defRPr/>
            </a:pPr>
            <a:fld id="{C8051694-615A-41F0-BDE8-8DD22F19DB33}" type="datetime1">
              <a:rPr lang="en-US" altLang="en-US" smtClean="0"/>
              <a:pPr>
                <a:defRPr/>
              </a:pPr>
              <a:t>2/21/2026</a:t>
            </a:fld>
            <a:endParaRPr lang="en-US" altLang="en-US"/>
          </a:p>
        </p:txBody>
      </p:sp>
      <p:sp>
        <p:nvSpPr>
          <p:cNvPr id="6" name="Footer Placeholder 5">
            <a:extLst>
              <a:ext uri="{FF2B5EF4-FFF2-40B4-BE49-F238E27FC236}">
                <a16:creationId xmlns:a16="http://schemas.microsoft.com/office/drawing/2014/main" id="{2AE35D9D-698B-879D-9EE9-14ADBC7397B9}"/>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D40A996A-E8BD-D60A-B558-234B58669B29}"/>
              </a:ext>
            </a:extLst>
          </p:cNvPr>
          <p:cNvSpPr>
            <a:spLocks noGrp="1"/>
          </p:cNvSpPr>
          <p:nvPr>
            <p:ph type="sldNum" sz="quarter" idx="12"/>
          </p:nvPr>
        </p:nvSpPr>
        <p:spPr/>
        <p:txBody>
          <a:bodyPr/>
          <a:lstStyle/>
          <a:p>
            <a:pPr>
              <a:defRPr/>
            </a:pPr>
            <a:fld id="{3821C284-58AA-4BEE-82A4-D1EB1E79C492}" type="slidenum">
              <a:rPr lang="en-US" altLang="en-US" smtClean="0"/>
              <a:pPr>
                <a:defRPr/>
              </a:pPr>
              <a:t>‹#›</a:t>
            </a:fld>
            <a:endParaRPr lang="en-US" altLang="en-US"/>
          </a:p>
        </p:txBody>
      </p:sp>
    </p:spTree>
    <p:extLst>
      <p:ext uri="{BB962C8B-B14F-4D97-AF65-F5344CB8AC3E}">
        <p14:creationId xmlns:p14="http://schemas.microsoft.com/office/powerpoint/2010/main" val="479130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0B92-4478-9999-3856-1C8FF21A92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3ECC60E-44E3-92DC-0825-DC3CBAB07B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F5EA4B80-F301-E59E-D9BA-848BB1B6A5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E84B19-344E-E0AD-B631-6CE493BEF14C}"/>
              </a:ext>
            </a:extLst>
          </p:cNvPr>
          <p:cNvSpPr>
            <a:spLocks noGrp="1"/>
          </p:cNvSpPr>
          <p:nvPr>
            <p:ph type="dt" sz="half" idx="10"/>
          </p:nvPr>
        </p:nvSpPr>
        <p:spPr/>
        <p:txBody>
          <a:bodyPr/>
          <a:lstStyle/>
          <a:p>
            <a:pPr>
              <a:defRPr/>
            </a:pPr>
            <a:fld id="{EDD8AFD3-0434-41EF-8644-C7E42D5A8BA0}" type="datetime1">
              <a:rPr lang="en-US" altLang="en-US" smtClean="0"/>
              <a:pPr>
                <a:defRPr/>
              </a:pPr>
              <a:t>2/21/2026</a:t>
            </a:fld>
            <a:endParaRPr lang="en-US" altLang="en-US"/>
          </a:p>
        </p:txBody>
      </p:sp>
      <p:sp>
        <p:nvSpPr>
          <p:cNvPr id="6" name="Footer Placeholder 5">
            <a:extLst>
              <a:ext uri="{FF2B5EF4-FFF2-40B4-BE49-F238E27FC236}">
                <a16:creationId xmlns:a16="http://schemas.microsoft.com/office/drawing/2014/main" id="{3493B8CE-73B4-0406-2BCE-BDA6A87EC206}"/>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8CB5C3E5-B79C-5A1C-B93E-C123A09C57BE}"/>
              </a:ext>
            </a:extLst>
          </p:cNvPr>
          <p:cNvSpPr>
            <a:spLocks noGrp="1"/>
          </p:cNvSpPr>
          <p:nvPr>
            <p:ph type="sldNum" sz="quarter" idx="12"/>
          </p:nvPr>
        </p:nvSpPr>
        <p:spPr/>
        <p:txBody>
          <a:bodyPr/>
          <a:lstStyle/>
          <a:p>
            <a:pPr>
              <a:defRPr/>
            </a:pPr>
            <a:fld id="{FADAAE31-F5B8-4799-B45C-4EB87FB1FBE4}" type="slidenum">
              <a:rPr lang="en-US" altLang="en-US" smtClean="0"/>
              <a:pPr>
                <a:defRPr/>
              </a:pPr>
              <a:t>‹#›</a:t>
            </a:fld>
            <a:endParaRPr lang="en-US" altLang="en-US"/>
          </a:p>
        </p:txBody>
      </p:sp>
    </p:spTree>
    <p:extLst>
      <p:ext uri="{BB962C8B-B14F-4D97-AF65-F5344CB8AC3E}">
        <p14:creationId xmlns:p14="http://schemas.microsoft.com/office/powerpoint/2010/main" val="2670846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3422-292A-A944-984E-88660F2812B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D4F87A1-7657-85DF-1F52-C38F09683B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C69E833-5037-252D-DC31-8A6AB46951CF}"/>
              </a:ext>
            </a:extLst>
          </p:cNvPr>
          <p:cNvSpPr>
            <a:spLocks noGrp="1"/>
          </p:cNvSpPr>
          <p:nvPr>
            <p:ph type="dt" sz="half" idx="10"/>
          </p:nvPr>
        </p:nvSpPr>
        <p:spPr/>
        <p:txBody>
          <a:bodyPr/>
          <a:lstStyle/>
          <a:p>
            <a:pPr>
              <a:defRPr/>
            </a:pPr>
            <a:fld id="{B4C5896D-6D37-4183-906E-95511D893630}" type="datetime1">
              <a:rPr lang="en-US" altLang="en-US" smtClean="0"/>
              <a:pPr>
                <a:defRPr/>
              </a:pPr>
              <a:t>2/21/2026</a:t>
            </a:fld>
            <a:endParaRPr lang="en-US" altLang="en-US"/>
          </a:p>
        </p:txBody>
      </p:sp>
      <p:sp>
        <p:nvSpPr>
          <p:cNvPr id="5" name="Footer Placeholder 4">
            <a:extLst>
              <a:ext uri="{FF2B5EF4-FFF2-40B4-BE49-F238E27FC236}">
                <a16:creationId xmlns:a16="http://schemas.microsoft.com/office/drawing/2014/main" id="{6169E459-6B1D-7CF5-49B7-581F05D43A52}"/>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FBD9022A-1DC4-606B-3D93-22FB9F8CD3AF}"/>
              </a:ext>
            </a:extLst>
          </p:cNvPr>
          <p:cNvSpPr>
            <a:spLocks noGrp="1"/>
          </p:cNvSpPr>
          <p:nvPr>
            <p:ph type="sldNum" sz="quarter" idx="12"/>
          </p:nvPr>
        </p:nvSpPr>
        <p:spPr/>
        <p:txBody>
          <a:bodyPr/>
          <a:lstStyle/>
          <a:p>
            <a:pPr>
              <a:defRPr/>
            </a:pPr>
            <a:fld id="{0F59179C-C5E3-4390-99B3-5C566199083B}" type="slidenum">
              <a:rPr lang="en-US" altLang="en-US" smtClean="0"/>
              <a:pPr>
                <a:defRPr/>
              </a:pPr>
              <a:t>‹#›</a:t>
            </a:fld>
            <a:endParaRPr lang="en-US" altLang="en-US"/>
          </a:p>
        </p:txBody>
      </p:sp>
    </p:spTree>
    <p:extLst>
      <p:ext uri="{BB962C8B-B14F-4D97-AF65-F5344CB8AC3E}">
        <p14:creationId xmlns:p14="http://schemas.microsoft.com/office/powerpoint/2010/main" val="21951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A3BCDE-D5DD-5C3C-5FBD-9FCCB8FE87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7199D36-B9B0-E0CC-954C-CEE6CB4231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8A4BABB-7E37-FD1D-A58C-D107EEEE0184}"/>
              </a:ext>
            </a:extLst>
          </p:cNvPr>
          <p:cNvSpPr>
            <a:spLocks noGrp="1"/>
          </p:cNvSpPr>
          <p:nvPr>
            <p:ph type="dt" sz="half" idx="10"/>
          </p:nvPr>
        </p:nvSpPr>
        <p:spPr/>
        <p:txBody>
          <a:bodyPr/>
          <a:lstStyle/>
          <a:p>
            <a:pPr>
              <a:defRPr/>
            </a:pPr>
            <a:fld id="{FD4A8965-7F6A-4AE7-929E-FD5BAE3A4A55}" type="datetime1">
              <a:rPr lang="en-US" altLang="en-US" smtClean="0"/>
              <a:pPr>
                <a:defRPr/>
              </a:pPr>
              <a:t>2/21/2026</a:t>
            </a:fld>
            <a:endParaRPr lang="en-US" altLang="en-US"/>
          </a:p>
        </p:txBody>
      </p:sp>
      <p:sp>
        <p:nvSpPr>
          <p:cNvPr id="5" name="Footer Placeholder 4">
            <a:extLst>
              <a:ext uri="{FF2B5EF4-FFF2-40B4-BE49-F238E27FC236}">
                <a16:creationId xmlns:a16="http://schemas.microsoft.com/office/drawing/2014/main" id="{0BE06F70-7A6F-88B2-607F-23C0B0C48C1B}"/>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A84EA4C0-CDBF-2E9D-6926-BBDA2D4464E3}"/>
              </a:ext>
            </a:extLst>
          </p:cNvPr>
          <p:cNvSpPr>
            <a:spLocks noGrp="1"/>
          </p:cNvSpPr>
          <p:nvPr>
            <p:ph type="sldNum" sz="quarter" idx="12"/>
          </p:nvPr>
        </p:nvSpPr>
        <p:spPr/>
        <p:txBody>
          <a:bodyPr/>
          <a:lstStyle/>
          <a:p>
            <a:pPr>
              <a:defRPr/>
            </a:pPr>
            <a:fld id="{4C173186-124A-49A5-9BD3-A330ED2C9FE0}" type="slidenum">
              <a:rPr lang="en-US" altLang="en-US" smtClean="0"/>
              <a:pPr>
                <a:defRPr/>
              </a:pPr>
              <a:t>‹#›</a:t>
            </a:fld>
            <a:endParaRPr lang="en-US" altLang="en-US"/>
          </a:p>
        </p:txBody>
      </p:sp>
    </p:spTree>
    <p:extLst>
      <p:ext uri="{BB962C8B-B14F-4D97-AF65-F5344CB8AC3E}">
        <p14:creationId xmlns:p14="http://schemas.microsoft.com/office/powerpoint/2010/main" val="164481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7BAE93-AEDA-775F-337B-B43EAB119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E087D08-24D7-8E78-ACC2-A6D9BD3E91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6C1E5E2-B320-4880-B6EA-1314697734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819B1F0-2DD7-4160-8078-37C289AE3EF8}" type="datetime1">
              <a:rPr lang="en-US" altLang="en-US" smtClean="0"/>
              <a:pPr>
                <a:defRPr/>
              </a:pPr>
              <a:t>2/21/2026</a:t>
            </a:fld>
            <a:endParaRPr lang="en-US" altLang="en-US"/>
          </a:p>
        </p:txBody>
      </p:sp>
      <p:sp>
        <p:nvSpPr>
          <p:cNvPr id="5" name="Footer Placeholder 4">
            <a:extLst>
              <a:ext uri="{FF2B5EF4-FFF2-40B4-BE49-F238E27FC236}">
                <a16:creationId xmlns:a16="http://schemas.microsoft.com/office/drawing/2014/main" id="{75DC446E-52CC-3739-A591-EC05A5B10A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a:p>
        </p:txBody>
      </p:sp>
      <p:sp>
        <p:nvSpPr>
          <p:cNvPr id="6" name="Slide Number Placeholder 5">
            <a:extLst>
              <a:ext uri="{FF2B5EF4-FFF2-40B4-BE49-F238E27FC236}">
                <a16:creationId xmlns:a16="http://schemas.microsoft.com/office/drawing/2014/main" id="{E9054DA5-F397-8495-EDAE-FC82B739F6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E757706-342B-4AA7-BF90-8063C586C4A8}" type="slidenum">
              <a:rPr lang="en-US" altLang="en-US" smtClean="0"/>
              <a:pPr>
                <a:defRPr/>
              </a:pPr>
              <a:t>‹#›</a:t>
            </a:fld>
            <a:endParaRPr lang="en-US" altLang="en-US"/>
          </a:p>
        </p:txBody>
      </p:sp>
    </p:spTree>
    <p:extLst>
      <p:ext uri="{BB962C8B-B14F-4D97-AF65-F5344CB8AC3E}">
        <p14:creationId xmlns:p14="http://schemas.microsoft.com/office/powerpoint/2010/main" val="2789264898"/>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mailto:info@IslandCap-g.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linkedin.com/in/isabellalan/"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39E50-67D9-58FE-CDE4-F703FD181481}"/>
              </a:ext>
            </a:extLst>
          </p:cNvPr>
          <p:cNvSpPr>
            <a:spLocks noGrp="1"/>
          </p:cNvSpPr>
          <p:nvPr>
            <p:ph type="title"/>
          </p:nvPr>
        </p:nvSpPr>
        <p:spPr/>
        <p:txBody>
          <a:bodyPr/>
          <a:lstStyle/>
          <a:p>
            <a:r>
              <a:rPr lang="en-GB" dirty="0"/>
              <a:t>logo</a:t>
            </a:r>
          </a:p>
        </p:txBody>
      </p:sp>
      <p:pic>
        <p:nvPicPr>
          <p:cNvPr id="6" name="Picture 5">
            <a:extLst>
              <a:ext uri="{FF2B5EF4-FFF2-40B4-BE49-F238E27FC236}">
                <a16:creationId xmlns:a16="http://schemas.microsoft.com/office/drawing/2014/main" id="{E831A0B2-6ED3-F6EE-76A6-00069B7CB43A}"/>
              </a:ext>
            </a:extLst>
          </p:cNvPr>
          <p:cNvPicPr>
            <a:picLocks noChangeAspect="1"/>
          </p:cNvPicPr>
          <p:nvPr/>
        </p:nvPicPr>
        <p:blipFill>
          <a:blip r:embed="rId3"/>
          <a:stretch>
            <a:fillRect/>
          </a:stretch>
        </p:blipFill>
        <p:spPr>
          <a:xfrm>
            <a:off x="3174502" y="2922364"/>
            <a:ext cx="5047926" cy="1536325"/>
          </a:xfrm>
          <a:prstGeom prst="rect">
            <a:avLst/>
          </a:prstGeom>
        </p:spPr>
      </p:pic>
    </p:spTree>
    <p:extLst>
      <p:ext uri="{BB962C8B-B14F-4D97-AF65-F5344CB8AC3E}">
        <p14:creationId xmlns:p14="http://schemas.microsoft.com/office/powerpoint/2010/main" val="262751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48840-A588-B2D5-5406-46C39BE051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255D6-2536-35D0-7BC4-7AAA34CDADC0}"/>
              </a:ext>
            </a:extLst>
          </p:cNvPr>
          <p:cNvSpPr>
            <a:spLocks noGrp="1"/>
          </p:cNvSpPr>
          <p:nvPr>
            <p:ph type="title"/>
          </p:nvPr>
        </p:nvSpPr>
        <p:spPr>
          <a:xfrm>
            <a:off x="838200" y="574350"/>
            <a:ext cx="10515600" cy="1325563"/>
          </a:xfrm>
        </p:spPr>
        <p:txBody>
          <a:bodyPr/>
          <a:lstStyle/>
          <a:p>
            <a:pPr algn="ctr"/>
            <a:r>
              <a:rPr lang="en-SG" dirty="0"/>
              <a:t>About us</a:t>
            </a:r>
          </a:p>
        </p:txBody>
      </p:sp>
      <p:sp>
        <p:nvSpPr>
          <p:cNvPr id="3" name="Content Placeholder 2">
            <a:extLst>
              <a:ext uri="{FF2B5EF4-FFF2-40B4-BE49-F238E27FC236}">
                <a16:creationId xmlns:a16="http://schemas.microsoft.com/office/drawing/2014/main" id="{549CD9DF-7A0D-4941-260F-70187CEF9A48}"/>
              </a:ext>
            </a:extLst>
          </p:cNvPr>
          <p:cNvSpPr>
            <a:spLocks noGrp="1"/>
          </p:cNvSpPr>
          <p:nvPr>
            <p:ph idx="1"/>
          </p:nvPr>
        </p:nvSpPr>
        <p:spPr/>
        <p:txBody>
          <a:bodyPr>
            <a:normAutofit/>
          </a:bodyPr>
          <a:lstStyle/>
          <a:p>
            <a:pPr marL="0" indent="0">
              <a:buNone/>
            </a:pPr>
            <a:r>
              <a:rPr lang="en-US" altLang="zh-CN" dirty="0"/>
              <a:t>Island Capital </a:t>
            </a:r>
            <a:r>
              <a:rPr lang="en-SG" altLang="zh-CN" dirty="0"/>
              <a:t>specialises in corporate structuring and services</a:t>
            </a:r>
            <a:r>
              <a:rPr lang="en-GB" dirty="0"/>
              <a:t>, on-demand  CFO, and ESG compliance. We innovate solutions tailored to clients needs for meeting regulatory and financial reporting requirement efficiently, simplifying ESG compliance, and enabling agile decision and execution with credible support of CFO leadership.</a:t>
            </a:r>
          </a:p>
          <a:p>
            <a:pPr marL="0" indent="0">
              <a:buNone/>
            </a:pPr>
            <a:endParaRPr lang="en-GB" dirty="0"/>
          </a:p>
          <a:p>
            <a:pPr marL="0" indent="0">
              <a:buNone/>
            </a:pPr>
            <a:endParaRPr lang="en-GB" dirty="0"/>
          </a:p>
        </p:txBody>
      </p:sp>
      <p:sp>
        <p:nvSpPr>
          <p:cNvPr id="4" name="Title 1">
            <a:extLst>
              <a:ext uri="{FF2B5EF4-FFF2-40B4-BE49-F238E27FC236}">
                <a16:creationId xmlns:a16="http://schemas.microsoft.com/office/drawing/2014/main" id="{F23D2D43-7D75-A927-F596-82685827C867}"/>
              </a:ext>
            </a:extLst>
          </p:cNvPr>
          <p:cNvSpPr txBox="1">
            <a:spLocks/>
          </p:cNvSpPr>
          <p:nvPr/>
        </p:nvSpPr>
        <p:spPr>
          <a:xfrm>
            <a:off x="4744141" y="139495"/>
            <a:ext cx="11088301" cy="54154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t>Island Capital</a:t>
            </a:r>
            <a:endParaRPr lang="en-SG" sz="2000" dirty="0"/>
          </a:p>
        </p:txBody>
      </p:sp>
    </p:spTree>
    <p:extLst>
      <p:ext uri="{BB962C8B-B14F-4D97-AF65-F5344CB8AC3E}">
        <p14:creationId xmlns:p14="http://schemas.microsoft.com/office/powerpoint/2010/main" val="795794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C6E55-D5D0-A8B2-5C46-E8D022432565}"/>
              </a:ext>
            </a:extLst>
          </p:cNvPr>
          <p:cNvSpPr>
            <a:spLocks noGrp="1"/>
          </p:cNvSpPr>
          <p:nvPr>
            <p:ph idx="1"/>
          </p:nvPr>
        </p:nvSpPr>
        <p:spPr>
          <a:xfrm>
            <a:off x="1155192" y="580517"/>
            <a:ext cx="5044130" cy="1252651"/>
          </a:xfrm>
        </p:spPr>
        <p:txBody>
          <a:bodyPr>
            <a:normAutofit fontScale="55000" lnSpcReduction="20000"/>
          </a:bodyPr>
          <a:lstStyle/>
          <a:p>
            <a:pPr marL="0" indent="0">
              <a:buNone/>
            </a:pPr>
            <a:r>
              <a:rPr lang="en-SG" sz="4400" dirty="0"/>
              <a:t>Asia expert</a:t>
            </a:r>
          </a:p>
          <a:p>
            <a:pPr marL="0" indent="0">
              <a:buNone/>
            </a:pPr>
            <a:r>
              <a:rPr lang="en-SG" sz="2900" dirty="0"/>
              <a:t>Decades of expertise, in-market operation and regional management in Asia, Across Finance, Strategy, corporate structuring, Transformation, and Business Consulting.</a:t>
            </a:r>
            <a:endParaRPr lang="en-SG" sz="1400" dirty="0"/>
          </a:p>
          <a:p>
            <a:pPr marL="0" indent="0">
              <a:buNone/>
            </a:pPr>
            <a:endParaRPr lang="en-SG" sz="1400" dirty="0"/>
          </a:p>
        </p:txBody>
      </p:sp>
      <p:sp>
        <p:nvSpPr>
          <p:cNvPr id="4" name="TextBox 3">
            <a:extLst>
              <a:ext uri="{FF2B5EF4-FFF2-40B4-BE49-F238E27FC236}">
                <a16:creationId xmlns:a16="http://schemas.microsoft.com/office/drawing/2014/main" id="{B92A5A50-B6D5-12DF-FC45-27B06C9DF220}"/>
              </a:ext>
            </a:extLst>
          </p:cNvPr>
          <p:cNvSpPr txBox="1"/>
          <p:nvPr/>
        </p:nvSpPr>
        <p:spPr>
          <a:xfrm>
            <a:off x="6858000" y="588085"/>
            <a:ext cx="4355024" cy="1252651"/>
          </a:xfrm>
          <a:prstGeom prst="rect">
            <a:avLst/>
          </a:prstGeom>
        </p:spPr>
        <p:txBody>
          <a:bodyPr vert="horz" lIns="91440" tIns="45720" rIns="91440" bIns="45720" rtlCol="0">
            <a:normAutofit fontScale="62500" lnSpcReduction="20000"/>
          </a:bodyPr>
          <a:lstStyle>
            <a:lvl1pPr indent="0">
              <a:lnSpc>
                <a:spcPct val="90000"/>
              </a:lnSpc>
              <a:spcBef>
                <a:spcPts val="1000"/>
              </a:spcBef>
              <a:buFont typeface="Arial" panose="020B0604020202020204" pitchFamily="34" charset="0"/>
              <a:buNone/>
              <a:defRPr sz="14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SG" sz="4400" dirty="0"/>
              <a:t>Global knowledge </a:t>
            </a:r>
          </a:p>
          <a:p>
            <a:r>
              <a:rPr lang="en-SG" sz="2600" dirty="0"/>
              <a:t>Global perspective and a strong network built over decades  working with MNCs, enterprises, family offices, and collaborating with diverse stakeholders and allies globally.</a:t>
            </a:r>
          </a:p>
        </p:txBody>
      </p:sp>
      <p:pic>
        <p:nvPicPr>
          <p:cNvPr id="7" name="Picture 6">
            <a:extLst>
              <a:ext uri="{FF2B5EF4-FFF2-40B4-BE49-F238E27FC236}">
                <a16:creationId xmlns:a16="http://schemas.microsoft.com/office/drawing/2014/main" id="{579B9B30-80BE-C933-6D3E-447953ACE5AE}"/>
              </a:ext>
            </a:extLst>
          </p:cNvPr>
          <p:cNvPicPr>
            <a:picLocks noChangeAspect="1"/>
          </p:cNvPicPr>
          <p:nvPr/>
        </p:nvPicPr>
        <p:blipFill>
          <a:blip r:embed="rId2"/>
          <a:stretch>
            <a:fillRect/>
          </a:stretch>
        </p:blipFill>
        <p:spPr>
          <a:xfrm>
            <a:off x="538690" y="2080056"/>
            <a:ext cx="10500360" cy="4031184"/>
          </a:xfrm>
          <a:prstGeom prst="rect">
            <a:avLst/>
          </a:prstGeom>
        </p:spPr>
      </p:pic>
      <p:sp>
        <p:nvSpPr>
          <p:cNvPr id="8" name="TextBox 7">
            <a:extLst>
              <a:ext uri="{FF2B5EF4-FFF2-40B4-BE49-F238E27FC236}">
                <a16:creationId xmlns:a16="http://schemas.microsoft.com/office/drawing/2014/main" id="{27C013B8-5BF2-926F-37A8-6062507EB2B3}"/>
              </a:ext>
            </a:extLst>
          </p:cNvPr>
          <p:cNvSpPr txBox="1"/>
          <p:nvPr/>
        </p:nvSpPr>
        <p:spPr>
          <a:xfrm>
            <a:off x="6361669" y="4556760"/>
            <a:ext cx="1783080" cy="1200329"/>
          </a:xfrm>
          <a:prstGeom prst="rect">
            <a:avLst/>
          </a:prstGeom>
          <a:solidFill>
            <a:schemeClr val="bg1"/>
          </a:solidFill>
        </p:spPr>
        <p:txBody>
          <a:bodyPr wrap="square" rtlCol="0">
            <a:spAutoFit/>
          </a:bodyPr>
          <a:lstStyle/>
          <a:p>
            <a:r>
              <a:rPr lang="en-SG" sz="3600" b="1" dirty="0"/>
              <a:t>25+</a:t>
            </a:r>
            <a:r>
              <a:rPr lang="en-SG" dirty="0"/>
              <a:t> </a:t>
            </a:r>
          </a:p>
          <a:p>
            <a:r>
              <a:rPr lang="en-SG" dirty="0"/>
              <a:t>Years in Business consulting</a:t>
            </a:r>
          </a:p>
        </p:txBody>
      </p:sp>
      <p:sp>
        <p:nvSpPr>
          <p:cNvPr id="9" name="TextBox 8">
            <a:extLst>
              <a:ext uri="{FF2B5EF4-FFF2-40B4-BE49-F238E27FC236}">
                <a16:creationId xmlns:a16="http://schemas.microsoft.com/office/drawing/2014/main" id="{22CC6D26-F2DE-317F-049A-FD26871C4D56}"/>
              </a:ext>
            </a:extLst>
          </p:cNvPr>
          <p:cNvSpPr txBox="1"/>
          <p:nvPr/>
        </p:nvSpPr>
        <p:spPr>
          <a:xfrm>
            <a:off x="8739109" y="4533900"/>
            <a:ext cx="1783080" cy="1200329"/>
          </a:xfrm>
          <a:prstGeom prst="rect">
            <a:avLst/>
          </a:prstGeom>
          <a:solidFill>
            <a:schemeClr val="bg1"/>
          </a:solidFill>
        </p:spPr>
        <p:txBody>
          <a:bodyPr wrap="square" rtlCol="0">
            <a:spAutoFit/>
          </a:bodyPr>
          <a:lstStyle/>
          <a:p>
            <a:r>
              <a:rPr lang="en-SG" sz="3600" b="1" dirty="0"/>
              <a:t>40+</a:t>
            </a:r>
            <a:r>
              <a:rPr lang="en-SG" dirty="0"/>
              <a:t> </a:t>
            </a:r>
          </a:p>
          <a:p>
            <a:r>
              <a:rPr lang="en-US" altLang="zh-CN" dirty="0"/>
              <a:t>Countries managed</a:t>
            </a:r>
            <a:endParaRPr lang="en-SG" dirty="0"/>
          </a:p>
        </p:txBody>
      </p:sp>
      <p:sp>
        <p:nvSpPr>
          <p:cNvPr id="10" name="TextBox 9">
            <a:extLst>
              <a:ext uri="{FF2B5EF4-FFF2-40B4-BE49-F238E27FC236}">
                <a16:creationId xmlns:a16="http://schemas.microsoft.com/office/drawing/2014/main" id="{D1909E17-65A5-2BFA-8CDC-1BD1A1B8844E}"/>
              </a:ext>
            </a:extLst>
          </p:cNvPr>
          <p:cNvSpPr txBox="1"/>
          <p:nvPr/>
        </p:nvSpPr>
        <p:spPr>
          <a:xfrm>
            <a:off x="9974580" y="4499252"/>
            <a:ext cx="1783080" cy="369332"/>
          </a:xfrm>
          <a:prstGeom prst="rect">
            <a:avLst/>
          </a:prstGeom>
          <a:solidFill>
            <a:schemeClr val="bg1"/>
          </a:solidFill>
        </p:spPr>
        <p:txBody>
          <a:bodyPr wrap="square" rtlCol="0">
            <a:spAutoFit/>
          </a:bodyPr>
          <a:lstStyle/>
          <a:p>
            <a:endParaRPr lang="en-SG" dirty="0"/>
          </a:p>
        </p:txBody>
      </p:sp>
    </p:spTree>
    <p:extLst>
      <p:ext uri="{BB962C8B-B14F-4D97-AF65-F5344CB8AC3E}">
        <p14:creationId xmlns:p14="http://schemas.microsoft.com/office/powerpoint/2010/main" val="1531115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571B86-CBDF-328C-A13B-24E8E6FA3DA6}"/>
              </a:ext>
            </a:extLst>
          </p:cNvPr>
          <p:cNvPicPr>
            <a:picLocks noChangeAspect="1"/>
          </p:cNvPicPr>
          <p:nvPr/>
        </p:nvPicPr>
        <p:blipFill>
          <a:blip r:embed="rId2"/>
          <a:stretch>
            <a:fillRect/>
          </a:stretch>
        </p:blipFill>
        <p:spPr>
          <a:xfrm>
            <a:off x="676697" y="118553"/>
            <a:ext cx="10326541" cy="4572638"/>
          </a:xfrm>
          <a:prstGeom prst="rect">
            <a:avLst/>
          </a:prstGeom>
        </p:spPr>
      </p:pic>
      <p:sp>
        <p:nvSpPr>
          <p:cNvPr id="6" name="TextBox 5">
            <a:extLst>
              <a:ext uri="{FF2B5EF4-FFF2-40B4-BE49-F238E27FC236}">
                <a16:creationId xmlns:a16="http://schemas.microsoft.com/office/drawing/2014/main" id="{683FF22D-6D7D-0763-FA28-B5FF23934F5D}"/>
              </a:ext>
            </a:extLst>
          </p:cNvPr>
          <p:cNvSpPr txBox="1"/>
          <p:nvPr/>
        </p:nvSpPr>
        <p:spPr>
          <a:xfrm>
            <a:off x="1624331" y="267629"/>
            <a:ext cx="8230523" cy="1077218"/>
          </a:xfrm>
          <a:prstGeom prst="rect">
            <a:avLst/>
          </a:prstGeom>
          <a:solidFill>
            <a:schemeClr val="bg1"/>
          </a:solidFill>
        </p:spPr>
        <p:txBody>
          <a:bodyPr wrap="none" rtlCol="0">
            <a:spAutoFit/>
          </a:bodyPr>
          <a:lstStyle/>
          <a:p>
            <a:r>
              <a:rPr lang="en-US" altLang="zh-CN" sz="3200" dirty="0"/>
              <a:t>Exceptional Industry Reputation &amp; track records </a:t>
            </a:r>
          </a:p>
          <a:p>
            <a:r>
              <a:rPr lang="en-SG" sz="3200" dirty="0"/>
              <a:t>   </a:t>
            </a:r>
          </a:p>
        </p:txBody>
      </p:sp>
      <p:pic>
        <p:nvPicPr>
          <p:cNvPr id="10" name="Picture 9">
            <a:extLst>
              <a:ext uri="{FF2B5EF4-FFF2-40B4-BE49-F238E27FC236}">
                <a16:creationId xmlns:a16="http://schemas.microsoft.com/office/drawing/2014/main" id="{66D025E8-DAEC-FA8E-A14D-B113FBBFAD8C}"/>
              </a:ext>
            </a:extLst>
          </p:cNvPr>
          <p:cNvPicPr>
            <a:picLocks noChangeAspect="1"/>
          </p:cNvPicPr>
          <p:nvPr/>
        </p:nvPicPr>
        <p:blipFill>
          <a:blip r:embed="rId3"/>
          <a:stretch>
            <a:fillRect/>
          </a:stretch>
        </p:blipFill>
        <p:spPr>
          <a:xfrm>
            <a:off x="583978" y="2128839"/>
            <a:ext cx="2788989" cy="1231175"/>
          </a:xfrm>
          <a:prstGeom prst="rect">
            <a:avLst/>
          </a:prstGeom>
          <a:solidFill>
            <a:schemeClr val="bg1"/>
          </a:solidFill>
        </p:spPr>
      </p:pic>
      <p:sp>
        <p:nvSpPr>
          <p:cNvPr id="11" name="TextBox 10">
            <a:extLst>
              <a:ext uri="{FF2B5EF4-FFF2-40B4-BE49-F238E27FC236}">
                <a16:creationId xmlns:a16="http://schemas.microsoft.com/office/drawing/2014/main" id="{4B570C18-5E58-EBB4-832D-0D0FE8804068}"/>
              </a:ext>
            </a:extLst>
          </p:cNvPr>
          <p:cNvSpPr txBox="1"/>
          <p:nvPr/>
        </p:nvSpPr>
        <p:spPr>
          <a:xfrm>
            <a:off x="1248521" y="3373324"/>
            <a:ext cx="2035557" cy="830997"/>
          </a:xfrm>
          <a:prstGeom prst="rect">
            <a:avLst/>
          </a:prstGeom>
          <a:solidFill>
            <a:schemeClr val="bg1"/>
          </a:solidFill>
        </p:spPr>
        <p:txBody>
          <a:bodyPr wrap="none" rtlCol="0">
            <a:spAutoFit/>
          </a:bodyPr>
          <a:lstStyle/>
          <a:p>
            <a:r>
              <a:rPr lang="en-SG" sz="1600" dirty="0">
                <a:solidFill>
                  <a:schemeClr val="tx2"/>
                </a:solidFill>
                <a:ea typeface="Calibri" panose="020F0502020204030204" pitchFamily="34" charset="0"/>
                <a:cs typeface="Calibri" panose="020F0502020204030204" pitchFamily="34" charset="0"/>
              </a:rPr>
              <a:t>Director of Rothchild’s</a:t>
            </a:r>
          </a:p>
          <a:p>
            <a:r>
              <a:rPr lang="en-SG" sz="1600" dirty="0">
                <a:solidFill>
                  <a:schemeClr val="tx2"/>
                </a:solidFill>
                <a:ea typeface="Calibri" panose="020F0502020204030204" pitchFamily="34" charset="0"/>
                <a:cs typeface="Calibri" panose="020F0502020204030204" pitchFamily="34" charset="0"/>
              </a:rPr>
              <a:t>trust companies</a:t>
            </a:r>
          </a:p>
          <a:p>
            <a:endParaRPr lang="en-SG" sz="1600" dirty="0">
              <a:solidFill>
                <a:schemeClr val="tx2"/>
              </a:solidFill>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B700604A-4E4F-5575-E084-EFB71B4741CA}"/>
              </a:ext>
            </a:extLst>
          </p:cNvPr>
          <p:cNvPicPr>
            <a:picLocks noChangeAspect="1"/>
          </p:cNvPicPr>
          <p:nvPr/>
        </p:nvPicPr>
        <p:blipFill>
          <a:blip r:embed="rId4"/>
          <a:stretch>
            <a:fillRect/>
          </a:stretch>
        </p:blipFill>
        <p:spPr>
          <a:xfrm>
            <a:off x="8280431" y="4343759"/>
            <a:ext cx="2257740" cy="1648055"/>
          </a:xfrm>
          <a:prstGeom prst="rect">
            <a:avLst/>
          </a:prstGeom>
        </p:spPr>
      </p:pic>
      <p:sp>
        <p:nvSpPr>
          <p:cNvPr id="14" name="TextBox 13">
            <a:extLst>
              <a:ext uri="{FF2B5EF4-FFF2-40B4-BE49-F238E27FC236}">
                <a16:creationId xmlns:a16="http://schemas.microsoft.com/office/drawing/2014/main" id="{89A635D8-0F10-5D0C-B8F2-A70C4FED5355}"/>
              </a:ext>
            </a:extLst>
          </p:cNvPr>
          <p:cNvSpPr txBox="1"/>
          <p:nvPr/>
        </p:nvSpPr>
        <p:spPr>
          <a:xfrm>
            <a:off x="8376116" y="6005596"/>
            <a:ext cx="2957476" cy="584775"/>
          </a:xfrm>
          <a:prstGeom prst="rect">
            <a:avLst/>
          </a:prstGeom>
          <a:solidFill>
            <a:schemeClr val="bg1"/>
          </a:solidFill>
        </p:spPr>
        <p:txBody>
          <a:bodyPr wrap="none" rtlCol="0">
            <a:spAutoFit/>
          </a:bodyPr>
          <a:lstStyle/>
          <a:p>
            <a:r>
              <a:rPr lang="en-SG" altLang="zh-CN" sz="1600" dirty="0">
                <a:solidFill>
                  <a:schemeClr val="tx2"/>
                </a:solidFill>
                <a:ea typeface="Calibri" panose="020F0502020204030204" pitchFamily="34" charset="0"/>
                <a:cs typeface="Calibri" panose="020F0502020204030204" pitchFamily="34" charset="0"/>
              </a:rPr>
              <a:t>Executive</a:t>
            </a:r>
            <a:r>
              <a:rPr lang="zh-CN" altLang="en-US" sz="1600" dirty="0">
                <a:solidFill>
                  <a:schemeClr val="tx2"/>
                </a:solidFill>
                <a:ea typeface="Calibri" panose="020F0502020204030204" pitchFamily="34" charset="0"/>
                <a:cs typeface="Calibri" panose="020F0502020204030204" pitchFamily="34" charset="0"/>
              </a:rPr>
              <a:t> </a:t>
            </a:r>
            <a:r>
              <a:rPr lang="en-SG" altLang="zh-CN" sz="1600" dirty="0">
                <a:solidFill>
                  <a:schemeClr val="tx2"/>
                </a:solidFill>
                <a:ea typeface="Calibri" panose="020F0502020204030204" pitchFamily="34" charset="0"/>
                <a:cs typeface="Calibri" panose="020F0502020204030204" pitchFamily="34" charset="0"/>
              </a:rPr>
              <a:t>Committee</a:t>
            </a:r>
            <a:endParaRPr lang="en-SG" sz="1600" dirty="0">
              <a:solidFill>
                <a:schemeClr val="tx2"/>
              </a:solidFill>
              <a:ea typeface="Calibri" panose="020F0502020204030204" pitchFamily="34" charset="0"/>
              <a:cs typeface="Calibri" panose="020F0502020204030204" pitchFamily="34" charset="0"/>
            </a:endParaRPr>
          </a:p>
          <a:p>
            <a:r>
              <a:rPr lang="en-SG" sz="1600" dirty="0">
                <a:solidFill>
                  <a:schemeClr val="tx2"/>
                </a:solidFill>
                <a:ea typeface="Calibri" panose="020F0502020204030204" pitchFamily="34" charset="0"/>
                <a:cs typeface="Calibri" panose="020F0502020204030204" pitchFamily="34" charset="0"/>
              </a:rPr>
              <a:t>Hong Kong Trustees’ Association</a:t>
            </a:r>
          </a:p>
        </p:txBody>
      </p:sp>
      <p:pic>
        <p:nvPicPr>
          <p:cNvPr id="18" name="Picture 17">
            <a:extLst>
              <a:ext uri="{FF2B5EF4-FFF2-40B4-BE49-F238E27FC236}">
                <a16:creationId xmlns:a16="http://schemas.microsoft.com/office/drawing/2014/main" id="{0DB26486-8520-9816-91BB-D4D0A02F25C8}"/>
              </a:ext>
            </a:extLst>
          </p:cNvPr>
          <p:cNvPicPr>
            <a:picLocks noChangeAspect="1"/>
          </p:cNvPicPr>
          <p:nvPr/>
        </p:nvPicPr>
        <p:blipFill>
          <a:blip r:embed="rId5"/>
          <a:stretch>
            <a:fillRect/>
          </a:stretch>
        </p:blipFill>
        <p:spPr>
          <a:xfrm>
            <a:off x="4445890" y="4661071"/>
            <a:ext cx="2348102" cy="1077218"/>
          </a:xfrm>
          <a:prstGeom prst="rect">
            <a:avLst/>
          </a:prstGeom>
        </p:spPr>
      </p:pic>
      <p:sp>
        <p:nvSpPr>
          <p:cNvPr id="19" name="TextBox 18">
            <a:extLst>
              <a:ext uri="{FF2B5EF4-FFF2-40B4-BE49-F238E27FC236}">
                <a16:creationId xmlns:a16="http://schemas.microsoft.com/office/drawing/2014/main" id="{9217D86C-E5E8-CD35-F4C0-72E9A0801F85}"/>
              </a:ext>
            </a:extLst>
          </p:cNvPr>
          <p:cNvSpPr txBox="1"/>
          <p:nvPr/>
        </p:nvSpPr>
        <p:spPr>
          <a:xfrm>
            <a:off x="4182351" y="5831271"/>
            <a:ext cx="3527825" cy="830997"/>
          </a:xfrm>
          <a:prstGeom prst="rect">
            <a:avLst/>
          </a:prstGeom>
          <a:solidFill>
            <a:schemeClr val="bg1"/>
          </a:solidFill>
        </p:spPr>
        <p:txBody>
          <a:bodyPr wrap="none" rtlCol="0">
            <a:spAutoFit/>
          </a:bodyPr>
          <a:lstStyle/>
          <a:p>
            <a:r>
              <a:rPr lang="en-SG" altLang="zh-CN" sz="1600" dirty="0">
                <a:solidFill>
                  <a:schemeClr val="tx2"/>
                </a:solidFill>
                <a:ea typeface="Calibri" panose="020F0502020204030204" pitchFamily="34" charset="0"/>
                <a:cs typeface="Calibri" panose="020F0502020204030204" pitchFamily="34" charset="0"/>
              </a:rPr>
              <a:t>Executive</a:t>
            </a:r>
            <a:r>
              <a:rPr lang="zh-CN" altLang="en-US" sz="1600" dirty="0">
                <a:solidFill>
                  <a:schemeClr val="tx2"/>
                </a:solidFill>
                <a:ea typeface="Calibri" panose="020F0502020204030204" pitchFamily="34" charset="0"/>
                <a:cs typeface="Calibri" panose="020F0502020204030204" pitchFamily="34" charset="0"/>
              </a:rPr>
              <a:t> </a:t>
            </a:r>
            <a:r>
              <a:rPr lang="en-SG" altLang="zh-CN" sz="1600" dirty="0">
                <a:solidFill>
                  <a:schemeClr val="tx2"/>
                </a:solidFill>
                <a:ea typeface="Calibri" panose="020F0502020204030204" pitchFamily="34" charset="0"/>
                <a:cs typeface="Calibri" panose="020F0502020204030204" pitchFamily="34" charset="0"/>
              </a:rPr>
              <a:t>Committee</a:t>
            </a:r>
            <a:endParaRPr lang="en-SG" sz="1600" dirty="0">
              <a:solidFill>
                <a:schemeClr val="tx2"/>
              </a:solidFill>
              <a:ea typeface="Calibri" panose="020F0502020204030204" pitchFamily="34" charset="0"/>
              <a:cs typeface="Calibri" panose="020F0502020204030204" pitchFamily="34" charset="0"/>
            </a:endParaRPr>
          </a:p>
          <a:p>
            <a:r>
              <a:rPr lang="en-GB" sz="1600" dirty="0">
                <a:solidFill>
                  <a:schemeClr val="tx2"/>
                </a:solidFill>
                <a:ea typeface="Calibri" panose="020F0502020204030204" pitchFamily="34" charset="0"/>
                <a:cs typeface="Calibri" panose="020F0502020204030204" pitchFamily="34" charset="0"/>
              </a:rPr>
              <a:t>Society of Trust and Estate Practitioners </a:t>
            </a:r>
          </a:p>
          <a:p>
            <a:r>
              <a:rPr lang="en-GB" sz="1600" dirty="0">
                <a:solidFill>
                  <a:schemeClr val="tx2"/>
                </a:solidFill>
                <a:ea typeface="Calibri" panose="020F0502020204030204" pitchFamily="34" charset="0"/>
                <a:cs typeface="Calibri" panose="020F0502020204030204" pitchFamily="34" charset="0"/>
              </a:rPr>
              <a:t>(Hong Kong Branch)</a:t>
            </a:r>
            <a:endParaRPr lang="en-SG" sz="1600" dirty="0">
              <a:solidFill>
                <a:schemeClr val="tx2"/>
              </a:solidFill>
              <a:ea typeface="Calibri" panose="020F0502020204030204" pitchFamily="34" charset="0"/>
              <a:cs typeface="Calibri" panose="020F0502020204030204" pitchFamily="34" charset="0"/>
            </a:endParaRPr>
          </a:p>
        </p:txBody>
      </p:sp>
      <p:pic>
        <p:nvPicPr>
          <p:cNvPr id="27" name="Picture 26">
            <a:extLst>
              <a:ext uri="{FF2B5EF4-FFF2-40B4-BE49-F238E27FC236}">
                <a16:creationId xmlns:a16="http://schemas.microsoft.com/office/drawing/2014/main" id="{6069F5B3-8DE7-B38E-25ED-ED817051FD8B}"/>
              </a:ext>
            </a:extLst>
          </p:cNvPr>
          <p:cNvPicPr>
            <a:picLocks noChangeAspect="1"/>
          </p:cNvPicPr>
          <p:nvPr/>
        </p:nvPicPr>
        <p:blipFill>
          <a:blip r:embed="rId6"/>
          <a:stretch>
            <a:fillRect/>
          </a:stretch>
        </p:blipFill>
        <p:spPr>
          <a:xfrm>
            <a:off x="887328" y="4686888"/>
            <a:ext cx="2182290" cy="1148687"/>
          </a:xfrm>
          <a:prstGeom prst="rect">
            <a:avLst/>
          </a:prstGeom>
        </p:spPr>
      </p:pic>
      <p:sp>
        <p:nvSpPr>
          <p:cNvPr id="28" name="TextBox 27">
            <a:extLst>
              <a:ext uri="{FF2B5EF4-FFF2-40B4-BE49-F238E27FC236}">
                <a16:creationId xmlns:a16="http://schemas.microsoft.com/office/drawing/2014/main" id="{3D26E466-9AE0-A53F-F5B6-2F5B52365F65}"/>
              </a:ext>
            </a:extLst>
          </p:cNvPr>
          <p:cNvSpPr txBox="1"/>
          <p:nvPr/>
        </p:nvSpPr>
        <p:spPr>
          <a:xfrm>
            <a:off x="960694" y="5848885"/>
            <a:ext cx="2900025" cy="830997"/>
          </a:xfrm>
          <a:prstGeom prst="rect">
            <a:avLst/>
          </a:prstGeom>
          <a:solidFill>
            <a:schemeClr val="bg1"/>
          </a:solidFill>
        </p:spPr>
        <p:txBody>
          <a:bodyPr wrap="none" rtlCol="0">
            <a:spAutoFit/>
          </a:bodyPr>
          <a:lstStyle/>
          <a:p>
            <a:r>
              <a:rPr lang="en-US" altLang="zh-CN" sz="1600" dirty="0">
                <a:solidFill>
                  <a:schemeClr val="tx2"/>
                </a:solidFill>
                <a:ea typeface="Calibri" panose="020F0502020204030204" pitchFamily="34" charset="0"/>
                <a:cs typeface="Calibri" panose="020F0502020204030204" pitchFamily="34" charset="0"/>
              </a:rPr>
              <a:t>Adjunct Professor </a:t>
            </a:r>
          </a:p>
          <a:p>
            <a:r>
              <a:rPr lang="en-US" altLang="zh-CN" sz="1600" dirty="0">
                <a:solidFill>
                  <a:schemeClr val="tx2"/>
                </a:solidFill>
                <a:ea typeface="Calibri" panose="020F0502020204030204" pitchFamily="34" charset="0"/>
                <a:cs typeface="Calibri" panose="020F0502020204030204" pitchFamily="34" charset="0"/>
              </a:rPr>
              <a:t>of International Estate Planning</a:t>
            </a:r>
          </a:p>
          <a:p>
            <a:r>
              <a:rPr lang="en-US" altLang="zh-CN" sz="1600" dirty="0">
                <a:solidFill>
                  <a:schemeClr val="tx2"/>
                </a:solidFill>
                <a:ea typeface="Calibri" panose="020F0502020204030204" pitchFamily="34" charset="0"/>
                <a:cs typeface="Calibri" panose="020F0502020204030204" pitchFamily="34" charset="0"/>
              </a:rPr>
              <a:t>National University of Singapore</a:t>
            </a:r>
          </a:p>
        </p:txBody>
      </p:sp>
      <p:sp>
        <p:nvSpPr>
          <p:cNvPr id="4" name="TextBox 3">
            <a:extLst>
              <a:ext uri="{FF2B5EF4-FFF2-40B4-BE49-F238E27FC236}">
                <a16:creationId xmlns:a16="http://schemas.microsoft.com/office/drawing/2014/main" id="{4B826E74-E46D-33AC-D521-A8A87118F8E6}"/>
              </a:ext>
            </a:extLst>
          </p:cNvPr>
          <p:cNvSpPr txBox="1"/>
          <p:nvPr/>
        </p:nvSpPr>
        <p:spPr>
          <a:xfrm>
            <a:off x="2725932" y="1058805"/>
            <a:ext cx="5145961" cy="369332"/>
          </a:xfrm>
          <a:prstGeom prst="rect">
            <a:avLst/>
          </a:prstGeom>
          <a:noFill/>
        </p:spPr>
        <p:txBody>
          <a:bodyPr wrap="none" rtlCol="0">
            <a:spAutoFit/>
          </a:bodyPr>
          <a:lstStyle/>
          <a:p>
            <a:r>
              <a:rPr lang="en-GB" dirty="0"/>
              <a:t>These are partner – IEP and trust lawyer’s credential</a:t>
            </a:r>
          </a:p>
        </p:txBody>
      </p:sp>
      <p:sp>
        <p:nvSpPr>
          <p:cNvPr id="7" name="Rectangle 6">
            <a:extLst>
              <a:ext uri="{FF2B5EF4-FFF2-40B4-BE49-F238E27FC236}">
                <a16:creationId xmlns:a16="http://schemas.microsoft.com/office/drawing/2014/main" id="{A8FA518A-7865-3947-A055-4D5184E18DA3}"/>
              </a:ext>
            </a:extLst>
          </p:cNvPr>
          <p:cNvSpPr/>
          <p:nvPr/>
        </p:nvSpPr>
        <p:spPr>
          <a:xfrm>
            <a:off x="8066314" y="2188029"/>
            <a:ext cx="2653393" cy="20737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0758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742BB-1090-E7BF-ABF5-147764DF103C}"/>
              </a:ext>
            </a:extLst>
          </p:cNvPr>
          <p:cNvSpPr>
            <a:spLocks noGrp="1"/>
          </p:cNvSpPr>
          <p:nvPr>
            <p:ph type="title"/>
          </p:nvPr>
        </p:nvSpPr>
        <p:spPr/>
        <p:txBody>
          <a:bodyPr>
            <a:normAutofit/>
          </a:bodyPr>
          <a:lstStyle/>
          <a:p>
            <a:r>
              <a:rPr lang="en-GB" sz="1800" dirty="0"/>
              <a:t>These are companies I’ve worked with as senior international leader – CFO, Regional Finance Director, Regional Strategy Lead, Transformation lead,, company director,, various committee chairman and member. Please advise how best to display these on the website – as experience or companies we’ve worked with, or credibility of global leading companies (Mostly) and growing SMEs (- only 3: Kingfisher, Navitas, JCS)</a:t>
            </a:r>
          </a:p>
        </p:txBody>
      </p:sp>
      <p:pic>
        <p:nvPicPr>
          <p:cNvPr id="7" name="Picture 6">
            <a:extLst>
              <a:ext uri="{FF2B5EF4-FFF2-40B4-BE49-F238E27FC236}">
                <a16:creationId xmlns:a16="http://schemas.microsoft.com/office/drawing/2014/main" id="{45DCE618-A607-BD46-0258-3166DB6D3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9287" y="2828357"/>
            <a:ext cx="1824924" cy="855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08F78F4E-CEF8-89EE-43C8-810751928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4317" y="2729516"/>
            <a:ext cx="1547695" cy="954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67564D80-9236-CEA9-6A2D-A9A3069987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18" y="2828357"/>
            <a:ext cx="1822732" cy="818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9">
            <a:extLst>
              <a:ext uri="{FF2B5EF4-FFF2-40B4-BE49-F238E27FC236}">
                <a16:creationId xmlns:a16="http://schemas.microsoft.com/office/drawing/2014/main" id="{38836DDC-8194-9234-E0C3-D2880D7EC5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5786" y="2897969"/>
            <a:ext cx="1740007" cy="81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976DC713-A4A8-E317-941E-90040DFC576C}"/>
              </a:ext>
            </a:extLst>
          </p:cNvPr>
          <p:cNvPicPr>
            <a:picLocks noChangeAspect="1"/>
          </p:cNvPicPr>
          <p:nvPr/>
        </p:nvPicPr>
        <p:blipFill>
          <a:blip r:embed="rId6"/>
          <a:stretch>
            <a:fillRect/>
          </a:stretch>
        </p:blipFill>
        <p:spPr>
          <a:xfrm>
            <a:off x="6184663" y="2808547"/>
            <a:ext cx="1547696" cy="952605"/>
          </a:xfrm>
          <a:prstGeom prst="rect">
            <a:avLst/>
          </a:prstGeom>
        </p:spPr>
      </p:pic>
      <p:pic>
        <p:nvPicPr>
          <p:cNvPr id="12" name="Picture 11">
            <a:extLst>
              <a:ext uri="{FF2B5EF4-FFF2-40B4-BE49-F238E27FC236}">
                <a16:creationId xmlns:a16="http://schemas.microsoft.com/office/drawing/2014/main" id="{51044AB1-7489-0724-AF74-E1F159458617}"/>
              </a:ext>
            </a:extLst>
          </p:cNvPr>
          <p:cNvPicPr>
            <a:picLocks noChangeAspect="1"/>
          </p:cNvPicPr>
          <p:nvPr/>
        </p:nvPicPr>
        <p:blipFill>
          <a:blip r:embed="rId7"/>
          <a:stretch>
            <a:fillRect/>
          </a:stretch>
        </p:blipFill>
        <p:spPr>
          <a:xfrm>
            <a:off x="10223971" y="2595346"/>
            <a:ext cx="1649360" cy="1088622"/>
          </a:xfrm>
          <a:prstGeom prst="rect">
            <a:avLst/>
          </a:prstGeom>
        </p:spPr>
      </p:pic>
      <p:pic>
        <p:nvPicPr>
          <p:cNvPr id="13" name="Picture 12">
            <a:extLst>
              <a:ext uri="{FF2B5EF4-FFF2-40B4-BE49-F238E27FC236}">
                <a16:creationId xmlns:a16="http://schemas.microsoft.com/office/drawing/2014/main" id="{3DD8DE70-F20B-A64C-C397-06605A9D9DBB}"/>
              </a:ext>
            </a:extLst>
          </p:cNvPr>
          <p:cNvPicPr>
            <a:picLocks noChangeAspect="1"/>
          </p:cNvPicPr>
          <p:nvPr/>
        </p:nvPicPr>
        <p:blipFill>
          <a:blip r:embed="rId8"/>
          <a:stretch>
            <a:fillRect/>
          </a:stretch>
        </p:blipFill>
        <p:spPr>
          <a:xfrm>
            <a:off x="226518" y="4468622"/>
            <a:ext cx="2024224" cy="898071"/>
          </a:xfrm>
          <a:prstGeom prst="rect">
            <a:avLst/>
          </a:prstGeom>
        </p:spPr>
      </p:pic>
      <p:pic>
        <p:nvPicPr>
          <p:cNvPr id="14" name="Picture 13">
            <a:extLst>
              <a:ext uri="{FF2B5EF4-FFF2-40B4-BE49-F238E27FC236}">
                <a16:creationId xmlns:a16="http://schemas.microsoft.com/office/drawing/2014/main" id="{F791B79B-73BE-5F20-9310-9666BB820376}"/>
              </a:ext>
            </a:extLst>
          </p:cNvPr>
          <p:cNvPicPr>
            <a:picLocks noChangeAspect="1"/>
          </p:cNvPicPr>
          <p:nvPr/>
        </p:nvPicPr>
        <p:blipFill>
          <a:blip r:embed="rId9"/>
          <a:stretch>
            <a:fillRect/>
          </a:stretch>
        </p:blipFill>
        <p:spPr>
          <a:xfrm>
            <a:off x="2564962" y="4074106"/>
            <a:ext cx="1740824" cy="1740824"/>
          </a:xfrm>
          <a:prstGeom prst="rect">
            <a:avLst/>
          </a:prstGeom>
        </p:spPr>
      </p:pic>
      <p:pic>
        <p:nvPicPr>
          <p:cNvPr id="16" name="Picture 15">
            <a:extLst>
              <a:ext uri="{FF2B5EF4-FFF2-40B4-BE49-F238E27FC236}">
                <a16:creationId xmlns:a16="http://schemas.microsoft.com/office/drawing/2014/main" id="{0B77C565-3824-9AC6-63CF-9CE7580C116D}"/>
              </a:ext>
            </a:extLst>
          </p:cNvPr>
          <p:cNvPicPr>
            <a:picLocks noChangeAspect="1"/>
          </p:cNvPicPr>
          <p:nvPr/>
        </p:nvPicPr>
        <p:blipFill>
          <a:blip r:embed="rId10"/>
          <a:stretch>
            <a:fillRect/>
          </a:stretch>
        </p:blipFill>
        <p:spPr>
          <a:xfrm>
            <a:off x="4974700" y="4468622"/>
            <a:ext cx="1861145" cy="579701"/>
          </a:xfrm>
          <a:prstGeom prst="rect">
            <a:avLst/>
          </a:prstGeom>
        </p:spPr>
      </p:pic>
    </p:spTree>
    <p:extLst>
      <p:ext uri="{BB962C8B-B14F-4D97-AF65-F5344CB8AC3E}">
        <p14:creationId xmlns:p14="http://schemas.microsoft.com/office/powerpoint/2010/main" val="1486581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85CCF60-79A2-440A-86A2-1A64A59F7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F2162BA-EECD-43E0-99D9-C00B19482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160DB805-F71F-46BB-A8CC-74F6D8306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6F91054C-3439-420E-88EB-F0A5637EC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996BFC-B601-E85F-E981-61DAC223412D}"/>
              </a:ext>
            </a:extLst>
          </p:cNvPr>
          <p:cNvSpPr>
            <a:spLocks noGrp="1"/>
          </p:cNvSpPr>
          <p:nvPr>
            <p:ph type="title"/>
          </p:nvPr>
        </p:nvSpPr>
        <p:spPr>
          <a:xfrm>
            <a:off x="673740" y="2759383"/>
            <a:ext cx="2895573" cy="2834223"/>
          </a:xfrm>
        </p:spPr>
        <p:txBody>
          <a:bodyPr vert="horz" lIns="91440" tIns="45720" rIns="91440" bIns="45720" rtlCol="0" anchor="t">
            <a:normAutofit/>
          </a:bodyPr>
          <a:lstStyle/>
          <a:p>
            <a:r>
              <a:rPr lang="en-US" sz="3700">
                <a:solidFill>
                  <a:srgbClr val="FFFFFF"/>
                </a:solidFill>
              </a:rPr>
              <a:t>These are clients my other partner has worked with</a:t>
            </a:r>
          </a:p>
        </p:txBody>
      </p:sp>
      <p:pic>
        <p:nvPicPr>
          <p:cNvPr id="4" name="Picture 3">
            <a:extLst>
              <a:ext uri="{FF2B5EF4-FFF2-40B4-BE49-F238E27FC236}">
                <a16:creationId xmlns:a16="http://schemas.microsoft.com/office/drawing/2014/main" id="{606AE3A3-FA8F-5266-CC66-F6269400B802}"/>
              </a:ext>
            </a:extLst>
          </p:cNvPr>
          <p:cNvPicPr>
            <a:picLocks noChangeAspect="1"/>
          </p:cNvPicPr>
          <p:nvPr/>
        </p:nvPicPr>
        <p:blipFill>
          <a:blip r:embed="rId2"/>
          <a:stretch>
            <a:fillRect/>
          </a:stretch>
        </p:blipFill>
        <p:spPr>
          <a:xfrm>
            <a:off x="5483074" y="851338"/>
            <a:ext cx="2503561" cy="2503561"/>
          </a:xfrm>
          <a:prstGeom prst="rect">
            <a:avLst/>
          </a:prstGeom>
        </p:spPr>
      </p:pic>
      <p:pic>
        <p:nvPicPr>
          <p:cNvPr id="5" name="Picture 4">
            <a:extLst>
              <a:ext uri="{FF2B5EF4-FFF2-40B4-BE49-F238E27FC236}">
                <a16:creationId xmlns:a16="http://schemas.microsoft.com/office/drawing/2014/main" id="{5879F29C-D8D2-B4F6-249D-B3726E6F4D8D}"/>
              </a:ext>
            </a:extLst>
          </p:cNvPr>
          <p:cNvPicPr>
            <a:picLocks noChangeAspect="1"/>
          </p:cNvPicPr>
          <p:nvPr/>
        </p:nvPicPr>
        <p:blipFill>
          <a:blip r:embed="rId3"/>
          <a:stretch>
            <a:fillRect/>
          </a:stretch>
        </p:blipFill>
        <p:spPr>
          <a:xfrm>
            <a:off x="8298768" y="1089776"/>
            <a:ext cx="3044519" cy="2265122"/>
          </a:xfrm>
          <a:prstGeom prst="rect">
            <a:avLst/>
          </a:prstGeom>
        </p:spPr>
      </p:pic>
      <p:pic>
        <p:nvPicPr>
          <p:cNvPr id="7" name="Picture 6">
            <a:extLst>
              <a:ext uri="{FF2B5EF4-FFF2-40B4-BE49-F238E27FC236}">
                <a16:creationId xmlns:a16="http://schemas.microsoft.com/office/drawing/2014/main" id="{1F0A48C8-F19A-A332-AD1C-88A9AC9E3ADA}"/>
              </a:ext>
            </a:extLst>
          </p:cNvPr>
          <p:cNvPicPr>
            <a:picLocks noChangeAspect="1"/>
          </p:cNvPicPr>
          <p:nvPr/>
        </p:nvPicPr>
        <p:blipFill>
          <a:blip r:embed="rId4"/>
          <a:stretch>
            <a:fillRect/>
          </a:stretch>
        </p:blipFill>
        <p:spPr>
          <a:xfrm>
            <a:off x="4719156" y="3167816"/>
            <a:ext cx="3054733" cy="1630046"/>
          </a:xfrm>
          <a:prstGeom prst="rect">
            <a:avLst/>
          </a:prstGeom>
        </p:spPr>
      </p:pic>
      <p:pic>
        <p:nvPicPr>
          <p:cNvPr id="3" name="Picture 2">
            <a:extLst>
              <a:ext uri="{FF2B5EF4-FFF2-40B4-BE49-F238E27FC236}">
                <a16:creationId xmlns:a16="http://schemas.microsoft.com/office/drawing/2014/main" id="{A1096BC7-10D5-D7CE-943E-9D1F61666FC9}"/>
              </a:ext>
            </a:extLst>
          </p:cNvPr>
          <p:cNvPicPr>
            <a:picLocks noChangeAspect="1"/>
          </p:cNvPicPr>
          <p:nvPr/>
        </p:nvPicPr>
        <p:blipFill>
          <a:blip r:embed="rId5"/>
          <a:stretch>
            <a:fillRect/>
          </a:stretch>
        </p:blipFill>
        <p:spPr>
          <a:xfrm>
            <a:off x="8298768" y="3673425"/>
            <a:ext cx="3054730" cy="1725572"/>
          </a:xfrm>
          <a:prstGeom prst="rect">
            <a:avLst/>
          </a:prstGeom>
          <a:solidFill>
            <a:schemeClr val="bg1"/>
          </a:solidFill>
        </p:spPr>
      </p:pic>
    </p:spTree>
    <p:extLst>
      <p:ext uri="{BB962C8B-B14F-4D97-AF65-F5344CB8AC3E}">
        <p14:creationId xmlns:p14="http://schemas.microsoft.com/office/powerpoint/2010/main" val="3287054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5042C-7305-06F5-173B-D3959A75035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53132F-61A3-AD8E-0F35-B8D6C1C24794}"/>
              </a:ext>
            </a:extLst>
          </p:cNvPr>
          <p:cNvPicPr>
            <a:picLocks noChangeAspect="1"/>
          </p:cNvPicPr>
          <p:nvPr/>
        </p:nvPicPr>
        <p:blipFill>
          <a:blip r:embed="rId2"/>
          <a:stretch>
            <a:fillRect/>
          </a:stretch>
        </p:blipFill>
        <p:spPr>
          <a:xfrm>
            <a:off x="1953882" y="800547"/>
            <a:ext cx="1771897" cy="1895740"/>
          </a:xfrm>
          <a:prstGeom prst="rect">
            <a:avLst/>
          </a:prstGeom>
        </p:spPr>
      </p:pic>
      <p:sp>
        <p:nvSpPr>
          <p:cNvPr id="6" name="TextBox 5">
            <a:extLst>
              <a:ext uri="{FF2B5EF4-FFF2-40B4-BE49-F238E27FC236}">
                <a16:creationId xmlns:a16="http://schemas.microsoft.com/office/drawing/2014/main" id="{148DC375-AF83-820B-1DFB-0E03325DE596}"/>
              </a:ext>
            </a:extLst>
          </p:cNvPr>
          <p:cNvSpPr txBox="1"/>
          <p:nvPr/>
        </p:nvSpPr>
        <p:spPr>
          <a:xfrm>
            <a:off x="882870" y="1489106"/>
            <a:ext cx="5293995" cy="4708981"/>
          </a:xfrm>
          <a:prstGeom prst="rect">
            <a:avLst/>
          </a:prstGeom>
          <a:solidFill>
            <a:schemeClr val="bg1"/>
          </a:solidFill>
        </p:spPr>
        <p:txBody>
          <a:bodyPr wrap="square" rtlCol="0">
            <a:spAutoFit/>
          </a:bodyPr>
          <a:lstStyle/>
          <a:p>
            <a:pPr algn="ctr"/>
            <a:r>
              <a:rPr lang="en-SG" b="1" dirty="0"/>
              <a:t>Corporate Structure &amp; Services</a:t>
            </a:r>
          </a:p>
          <a:p>
            <a:pPr algn="ctr"/>
            <a:r>
              <a:rPr lang="en-GB" sz="1400" dirty="0">
                <a:solidFill>
                  <a:srgbClr val="000000"/>
                </a:solidFill>
                <a:latin typeface="Verdana" panose="020B0604030504040204" pitchFamily="34" charset="0"/>
              </a:rPr>
              <a:t>S</a:t>
            </a:r>
            <a:r>
              <a:rPr lang="en-GB" sz="1400" b="0" i="0" dirty="0">
                <a:solidFill>
                  <a:srgbClr val="000000"/>
                </a:solidFill>
                <a:effectLst/>
                <a:latin typeface="Verdana" panose="020B0604030504040204" pitchFamily="34" charset="0"/>
              </a:rPr>
              <a:t>ingle or multiple types of entities and jurisdictions</a:t>
            </a:r>
          </a:p>
          <a:p>
            <a:pPr algn="ctr"/>
            <a:r>
              <a:rPr lang="en-GB" sz="1400" dirty="0">
                <a:solidFill>
                  <a:srgbClr val="000000"/>
                </a:solidFill>
                <a:latin typeface="Verdana" panose="020B0604030504040204" pitchFamily="34" charset="0"/>
              </a:rPr>
              <a:t>Set-up and </a:t>
            </a:r>
            <a:r>
              <a:rPr lang="en-GB" sz="1400" b="0" i="0" dirty="0">
                <a:solidFill>
                  <a:srgbClr val="000000"/>
                </a:solidFill>
                <a:effectLst/>
                <a:latin typeface="Verdana" panose="020B0604030504040204" pitchFamily="34" charset="0"/>
              </a:rPr>
              <a:t>On-going Support </a:t>
            </a:r>
          </a:p>
          <a:p>
            <a:endParaRPr lang="en-GB" sz="1400" dirty="0">
              <a:solidFill>
                <a:srgbClr val="000000"/>
              </a:solidFill>
              <a:latin typeface="Verdana" panose="020B0604030504040204" pitchFamily="34" charset="0"/>
            </a:endParaRPr>
          </a:p>
          <a:p>
            <a:endParaRPr lang="en-GB" sz="1200" dirty="0"/>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Legal entity structuring &amp; set up</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Corporate Services:</a:t>
            </a:r>
          </a:p>
          <a:p>
            <a:pPr marL="628650" lvl="1" indent="-171450">
              <a:buFontTx/>
              <a:buChar char="-"/>
            </a:pPr>
            <a:r>
              <a:rPr lang="en-GB" sz="1200" dirty="0">
                <a:latin typeface="Arial" panose="020B0604020202020204" pitchFamily="34" charset="0"/>
                <a:cs typeface="Arial" panose="020B0604020202020204" pitchFamily="34" charset="0"/>
              </a:rPr>
              <a:t>Company Secretary </a:t>
            </a:r>
          </a:p>
          <a:p>
            <a:pPr marL="628650" lvl="1" indent="-171450">
              <a:buFontTx/>
              <a:buChar char="-"/>
            </a:pPr>
            <a:r>
              <a:rPr lang="en-GB" sz="1200" dirty="0">
                <a:latin typeface="Arial" panose="020B0604020202020204" pitchFamily="34" charset="0"/>
                <a:cs typeface="Arial" panose="020B0604020202020204" pitchFamily="34" charset="0"/>
              </a:rPr>
              <a:t>Directorship</a:t>
            </a:r>
          </a:p>
          <a:p>
            <a:pPr marL="628650" lvl="1" indent="-171450">
              <a:buFontTx/>
              <a:buChar char="-"/>
            </a:pPr>
            <a:r>
              <a:rPr lang="en-GB" sz="1200" dirty="0">
                <a:latin typeface="Arial" panose="020B0604020202020204" pitchFamily="34" charset="0"/>
                <a:cs typeface="Arial" panose="020B0604020202020204" pitchFamily="34" charset="0"/>
              </a:rPr>
              <a:t>Regulatory Risk Mitigation</a:t>
            </a:r>
          </a:p>
          <a:p>
            <a:pPr marL="628650" lvl="1" indent="-171450">
              <a:buFontTx/>
              <a:buChar char="-"/>
            </a:pPr>
            <a:r>
              <a:rPr lang="en-GB" sz="1200" dirty="0">
                <a:latin typeface="Arial" panose="020B0604020202020204" pitchFamily="34" charset="0"/>
                <a:cs typeface="Arial" panose="020B0604020202020204" pitchFamily="34" charset="0"/>
              </a:rPr>
              <a:t>Regulatory &amp; Financial Reporting</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Local licenses and permits</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Insurances</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Recruitment</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Employment Passes &amp; Immigration – Singapore</a:t>
            </a:r>
          </a:p>
          <a:p>
            <a:endParaRPr lang="en-GB" sz="1200" dirty="0"/>
          </a:p>
          <a:p>
            <a:endParaRPr lang="en-GB" sz="1200" dirty="0"/>
          </a:p>
          <a:p>
            <a:r>
              <a:rPr lang="en-GB" sz="1200" dirty="0"/>
              <a:t>Key benefits:</a:t>
            </a:r>
          </a:p>
          <a:p>
            <a:pPr marL="285750" indent="-285750">
              <a:buFont typeface="Arial" panose="020B0604020202020204" pitchFamily="34" charset="0"/>
              <a:buChar char="•"/>
            </a:pPr>
            <a:r>
              <a:rPr lang="en-GB" sz="1200" dirty="0"/>
              <a:t>Limit liabilities from any potential lawsuits and financial losses.</a:t>
            </a:r>
          </a:p>
          <a:p>
            <a:pPr marL="285750" indent="-285750">
              <a:buFont typeface="Arial" panose="020B0604020202020204" pitchFamily="34" charset="0"/>
              <a:buChar char="•"/>
            </a:pPr>
            <a:r>
              <a:rPr lang="en-GB" sz="1200" dirty="0"/>
              <a:t>Optimise tax by leveraging our international comparative tax knowledge.</a:t>
            </a:r>
          </a:p>
          <a:p>
            <a:pPr marL="285750" indent="-285750">
              <a:buFont typeface="Arial" panose="020B0604020202020204" pitchFamily="34" charset="0"/>
              <a:buChar char="•"/>
            </a:pPr>
            <a:r>
              <a:rPr lang="en-GB" sz="1200" dirty="0"/>
              <a:t>Simplify Compliance to free up resources for growing business.</a:t>
            </a:r>
          </a:p>
          <a:p>
            <a:pPr marL="285750" indent="-285750">
              <a:buFont typeface="Arial" panose="020B0604020202020204" pitchFamily="34" charset="0"/>
              <a:buChar char="•"/>
            </a:pPr>
            <a:r>
              <a:rPr lang="en-GB" sz="1200" dirty="0"/>
              <a:t>Attract investors with a structure internationally recognised for greater stability and transparency</a:t>
            </a:r>
          </a:p>
          <a:p>
            <a:pPr marL="285750" indent="-285750">
              <a:buFont typeface="Arial" panose="020B0604020202020204" pitchFamily="34" charset="0"/>
              <a:buChar char="•"/>
            </a:pPr>
            <a:endParaRPr lang="en-SG" sz="1200" dirty="0"/>
          </a:p>
        </p:txBody>
      </p:sp>
      <p:pic>
        <p:nvPicPr>
          <p:cNvPr id="7" name="Picture 6">
            <a:extLst>
              <a:ext uri="{FF2B5EF4-FFF2-40B4-BE49-F238E27FC236}">
                <a16:creationId xmlns:a16="http://schemas.microsoft.com/office/drawing/2014/main" id="{9D9ED7B0-FC7D-7590-0772-BCCB0A1AC23F}"/>
              </a:ext>
            </a:extLst>
          </p:cNvPr>
          <p:cNvPicPr>
            <a:picLocks noChangeAspect="1"/>
          </p:cNvPicPr>
          <p:nvPr/>
        </p:nvPicPr>
        <p:blipFill>
          <a:blip r:embed="rId2"/>
          <a:stretch>
            <a:fillRect/>
          </a:stretch>
        </p:blipFill>
        <p:spPr>
          <a:xfrm>
            <a:off x="8096535" y="639806"/>
            <a:ext cx="1771897" cy="1895740"/>
          </a:xfrm>
          <a:prstGeom prst="rect">
            <a:avLst/>
          </a:prstGeom>
        </p:spPr>
      </p:pic>
      <p:sp>
        <p:nvSpPr>
          <p:cNvPr id="8" name="TextBox 7">
            <a:extLst>
              <a:ext uri="{FF2B5EF4-FFF2-40B4-BE49-F238E27FC236}">
                <a16:creationId xmlns:a16="http://schemas.microsoft.com/office/drawing/2014/main" id="{0400F4ED-AFE8-4624-0BB0-693EFFAA0FCB}"/>
              </a:ext>
            </a:extLst>
          </p:cNvPr>
          <p:cNvSpPr txBox="1"/>
          <p:nvPr/>
        </p:nvSpPr>
        <p:spPr>
          <a:xfrm>
            <a:off x="6456357" y="1336172"/>
            <a:ext cx="5931016" cy="5262979"/>
          </a:xfrm>
          <a:prstGeom prst="rect">
            <a:avLst/>
          </a:prstGeom>
          <a:solidFill>
            <a:schemeClr val="bg1"/>
          </a:solidFill>
        </p:spPr>
        <p:txBody>
          <a:bodyPr wrap="square" rtlCol="0">
            <a:spAutoFit/>
          </a:bodyPr>
          <a:lstStyle/>
          <a:p>
            <a:pPr algn="ctr"/>
            <a:r>
              <a:rPr lang="en-GB" sz="1400" b="1" dirty="0">
                <a:solidFill>
                  <a:srgbClr val="000000"/>
                </a:solidFill>
                <a:latin typeface="Verdana" panose="020B0604030504040204" pitchFamily="34" charset="0"/>
              </a:rPr>
              <a:t>Regulatory Reporting &amp; Advisory</a:t>
            </a:r>
          </a:p>
          <a:p>
            <a:pPr algn="ctr"/>
            <a:r>
              <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rPr>
              <a:t>Full financial Reporting Services,  SFRS, SFRS(I), IFRS(I), ACRA, IRAS, Company Act compliant</a:t>
            </a: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Directors’ Report, Financial Statements +Notes</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Annual Return and tax filing</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Pre-map compliance thresholds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Assess exemption scenarios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Offer Group Efficiency Package</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Minimize clients burdens</a:t>
            </a: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Key benefits:</a:t>
            </a:r>
          </a:p>
          <a:p>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6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600" dirty="0">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Meet reporting requirement efficiently</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Simplify compliance </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a:t>
            </a:r>
            <a:r>
              <a:rPr lang="en-SG" sz="1400" dirty="0">
                <a:latin typeface="Calibri" panose="020F0502020204030204" pitchFamily="34" charset="0"/>
                <a:ea typeface="Calibri" panose="020F0502020204030204" pitchFamily="34" charset="0"/>
                <a:cs typeface="Calibri" panose="020F0502020204030204" pitchFamily="34" charset="0"/>
              </a:rPr>
              <a:t>Enable strategic choices, optimum protection, and disclosure controls.</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latin typeface="Calibri" panose="020F0502020204030204" pitchFamily="34" charset="0"/>
                <a:ea typeface="Calibri" panose="020F0502020204030204" pitchFamily="34" charset="0"/>
                <a:cs typeface="Calibri" panose="020F0502020204030204" pitchFamily="34" charset="0"/>
              </a:rPr>
              <a:t>		</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b="1"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over-reporting</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data overload</a:t>
            </a:r>
          </a:p>
          <a:p>
            <a:r>
              <a:rPr lang="en-SG" sz="1400" dirty="0">
                <a:solidFill>
                  <a:srgbClr val="000000"/>
                </a:solidFill>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solidFill>
                  <a:srgbClr val="000000"/>
                </a:solidFill>
                <a:latin typeface="Calibri" panose="020F0502020204030204" pitchFamily="34" charset="0"/>
                <a:ea typeface="Calibri" panose="020F0502020204030204" pitchFamily="34" charset="0"/>
                <a:cs typeface="Calibri" panose="020F0502020204030204" pitchFamily="34" charset="0"/>
              </a:rPr>
              <a:t> unnecessary disclosure</a:t>
            </a: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GB" sz="1400" dirty="0">
              <a:solidFill>
                <a:srgbClr val="000000"/>
              </a:solidFill>
              <a:latin typeface="Verdana" panose="020B0604030504040204" pitchFamily="34" charset="0"/>
            </a:endParaRPr>
          </a:p>
          <a:p>
            <a:endParaRPr lang="en-GB" sz="1200" dirty="0"/>
          </a:p>
        </p:txBody>
      </p:sp>
      <p:sp>
        <p:nvSpPr>
          <p:cNvPr id="2" name="Rectangle 1">
            <a:extLst>
              <a:ext uri="{FF2B5EF4-FFF2-40B4-BE49-F238E27FC236}">
                <a16:creationId xmlns:a16="http://schemas.microsoft.com/office/drawing/2014/main" id="{B3A10BA4-CA3A-E3F4-4E0A-7D05F9C80E68}"/>
              </a:ext>
            </a:extLst>
          </p:cNvPr>
          <p:cNvSpPr/>
          <p:nvPr/>
        </p:nvSpPr>
        <p:spPr>
          <a:xfrm>
            <a:off x="3276047" y="136098"/>
            <a:ext cx="5931017" cy="5384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Söhne"/>
              </a:rPr>
              <a:t>Corporate Structuring </a:t>
            </a:r>
            <a:endParaRPr lang="en-GB" sz="2800" b="1" i="0" dirty="0">
              <a:solidFill>
                <a:schemeClr val="tx1"/>
              </a:solidFill>
              <a:effectLst/>
              <a:latin typeface="Söhne"/>
            </a:endParaRPr>
          </a:p>
        </p:txBody>
      </p:sp>
    </p:spTree>
    <p:extLst>
      <p:ext uri="{BB962C8B-B14F-4D97-AF65-F5344CB8AC3E}">
        <p14:creationId xmlns:p14="http://schemas.microsoft.com/office/powerpoint/2010/main" val="4202496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7A6988A5-F9B4-B486-0301-D01342187119}"/>
              </a:ext>
            </a:extLst>
          </p:cNvPr>
          <p:cNvSpPr/>
          <p:nvPr/>
        </p:nvSpPr>
        <p:spPr>
          <a:xfrm>
            <a:off x="69850" y="606348"/>
            <a:ext cx="12052299" cy="61308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latin typeface="Söhne"/>
            </a:endParaRPr>
          </a:p>
        </p:txBody>
      </p:sp>
      <p:sp>
        <p:nvSpPr>
          <p:cNvPr id="34" name="TextBox 33">
            <a:extLst>
              <a:ext uri="{FF2B5EF4-FFF2-40B4-BE49-F238E27FC236}">
                <a16:creationId xmlns:a16="http://schemas.microsoft.com/office/drawing/2014/main" id="{2B67A212-6B9D-5699-E29D-004FDF97184B}"/>
              </a:ext>
            </a:extLst>
          </p:cNvPr>
          <p:cNvSpPr txBox="1"/>
          <p:nvPr/>
        </p:nvSpPr>
        <p:spPr>
          <a:xfrm>
            <a:off x="434236" y="2034407"/>
            <a:ext cx="4488828" cy="5693866"/>
          </a:xfrm>
          <a:prstGeom prst="rect">
            <a:avLst/>
          </a:prstGeom>
          <a:noFill/>
        </p:spPr>
        <p:txBody>
          <a:bodyPr wrap="square">
            <a:spAutoFit/>
          </a:bodyPr>
          <a:lstStyle>
            <a:defPPr>
              <a:defRPr lang="en-US"/>
            </a:defPPr>
            <a:lvl1pPr marL="285750" indent="-285750">
              <a:buFont typeface="Arial" panose="020B0604020202020204" pitchFamily="34" charset="0"/>
              <a:buChar char="•"/>
              <a:defRPr sz="1400" b="1" i="0" u="none" strike="noStrike">
                <a:solidFill>
                  <a:srgbClr val="374151"/>
                </a:solidFill>
                <a:effectLst/>
                <a:latin typeface="Times New Roman" panose="02020603050405020304" pitchFamily="18" charset="0"/>
              </a:defRPr>
            </a:lvl1pPr>
            <a:lvl2pPr lvl="1" fontAlgn="ctr">
              <a:defRPr b="0" i="0" u="none" strike="noStrike">
                <a:solidFill>
                  <a:srgbClr val="374151"/>
                </a:solidFill>
                <a:effectLst/>
                <a:latin typeface="Times New Roman" panose="02020603050405020304" pitchFamily="18" charset="0"/>
              </a:defRPr>
            </a:lvl2pPr>
          </a:lstStyle>
          <a:p>
            <a:pPr marL="0" indent="0">
              <a:buNone/>
            </a:pPr>
            <a:endParaRPr lang="en-SG" dirty="0">
              <a:latin typeface="Calibri" panose="020F0502020204030204" pitchFamily="34" charset="0"/>
              <a:ea typeface="Calibri" panose="020F0502020204030204" pitchFamily="34" charset="0"/>
              <a:cs typeface="Calibri" panose="020F0502020204030204" pitchFamily="34" charset="0"/>
            </a:endParaRPr>
          </a:p>
          <a:p>
            <a:r>
              <a:rPr lang="en-SG" dirty="0">
                <a:latin typeface="Calibri" panose="020F0502020204030204" pitchFamily="34" charset="0"/>
                <a:ea typeface="Calibri" panose="020F0502020204030204" pitchFamily="34" charset="0"/>
                <a:cs typeface="Calibri" panose="020F0502020204030204" pitchFamily="34" charset="0"/>
              </a:rPr>
              <a:t>Planning, Budgeting, Forecasting </a:t>
            </a:r>
          </a:p>
          <a:p>
            <a:pPr marL="628650" lvl="2"/>
            <a:r>
              <a:rPr lang="en-SG" sz="1400" b="0" dirty="0">
                <a:latin typeface="Calibri" panose="020F0502020204030204" pitchFamily="34" charset="0"/>
                <a:ea typeface="Calibri" panose="020F0502020204030204" pitchFamily="34" charset="0"/>
                <a:cs typeface="Calibri" panose="020F0502020204030204" pitchFamily="34" charset="0"/>
              </a:rPr>
              <a:t>– Translating vision to strategies, operationalizing strategies to specific execution and performance targets.</a:t>
            </a:r>
          </a:p>
          <a:p>
            <a:r>
              <a:rPr lang="en-SG" dirty="0">
                <a:latin typeface="Calibri" panose="020F0502020204030204" pitchFamily="34" charset="0"/>
                <a:ea typeface="Calibri" panose="020F0502020204030204" pitchFamily="34" charset="0"/>
                <a:cs typeface="Calibri" panose="020F0502020204030204" pitchFamily="34" charset="0"/>
              </a:rPr>
              <a:t>Resource allocation / Investment prioritization / ROI</a:t>
            </a:r>
          </a:p>
          <a:p>
            <a:r>
              <a:rPr lang="en-SG" dirty="0">
                <a:latin typeface="Calibri" panose="020F0502020204030204" pitchFamily="34" charset="0"/>
                <a:ea typeface="Calibri" panose="020F0502020204030204" pitchFamily="34" charset="0"/>
                <a:cs typeface="Calibri" panose="020F0502020204030204" pitchFamily="34" charset="0"/>
              </a:rPr>
              <a:t>Business Insight &amp; Performance Management</a:t>
            </a:r>
          </a:p>
          <a:p>
            <a:pPr marL="0" indent="0">
              <a:buNone/>
            </a:pPr>
            <a:endParaRPr lang="en-SG" dirty="0">
              <a:latin typeface="Calibri" panose="020F0502020204030204" pitchFamily="34" charset="0"/>
              <a:ea typeface="Calibri" panose="020F0502020204030204" pitchFamily="34" charset="0"/>
              <a:cs typeface="Calibri" panose="020F0502020204030204" pitchFamily="34" charset="0"/>
            </a:endParaRP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Integrated Dashboard (KPIs identified &amp; tracked)</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Business Model Insight</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Business Drivers (Revenue, Costs)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Variance Analysis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Profitability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Trend Analysis</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Sensitivity Analysis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Risk &amp; Opportunity Proactive Management</a:t>
            </a: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ea typeface="Calibri" panose="020F0502020204030204" pitchFamily="34" charset="0"/>
                <a:cs typeface="Calibri" panose="020F0502020204030204" pitchFamily="34" charset="0"/>
              </a:rPr>
              <a:t>Financial Reporting –Compliant, Efficient, Cost Effective</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Monthly Financial Report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Annual Statutory Reporting (SFRS, SFRS(I), IFRS, audit ready)</a:t>
            </a: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dirty="0">
              <a:latin typeface="Calibri" panose="020F0502020204030204" pitchFamily="34" charset="0"/>
              <a:ea typeface="Calibri" panose="020F0502020204030204" pitchFamily="34" charset="0"/>
              <a:cs typeface="Calibri" panose="020F0502020204030204" pitchFamily="34" charset="0"/>
            </a:endParaRPr>
          </a:p>
        </p:txBody>
      </p:sp>
      <p:sp>
        <p:nvSpPr>
          <p:cNvPr id="15" name="AutoShape 2">
            <a:extLst>
              <a:ext uri="{FF2B5EF4-FFF2-40B4-BE49-F238E27FC236}">
                <a16:creationId xmlns:a16="http://schemas.microsoft.com/office/drawing/2014/main" id="{CB77B3A2-DE12-91D8-5DFD-4DC7C725687C}"/>
              </a:ext>
            </a:extLst>
          </p:cNvPr>
          <p:cNvSpPr>
            <a:spLocks noChangeAspect="1" noChangeArrowheads="1"/>
          </p:cNvSpPr>
          <p:nvPr/>
        </p:nvSpPr>
        <p:spPr bwMode="auto">
          <a:xfrm>
            <a:off x="139700" y="-412750"/>
            <a:ext cx="133350" cy="1333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6" name="AutoShape 3">
            <a:extLst>
              <a:ext uri="{FF2B5EF4-FFF2-40B4-BE49-F238E27FC236}">
                <a16:creationId xmlns:a16="http://schemas.microsoft.com/office/drawing/2014/main" id="{53CC7432-3F1B-0E7E-283E-DB1D6C25E7F1}"/>
              </a:ext>
            </a:extLst>
          </p:cNvPr>
          <p:cNvSpPr>
            <a:spLocks noChangeAspect="1" noChangeArrowheads="1"/>
          </p:cNvSpPr>
          <p:nvPr/>
        </p:nvSpPr>
        <p:spPr bwMode="auto">
          <a:xfrm>
            <a:off x="139700" y="-46038"/>
            <a:ext cx="133350" cy="1333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22" name="AutoShape 4">
            <a:extLst>
              <a:ext uri="{FF2B5EF4-FFF2-40B4-BE49-F238E27FC236}">
                <a16:creationId xmlns:a16="http://schemas.microsoft.com/office/drawing/2014/main" id="{76FFB4C5-85C1-79D6-AB30-AEF3B59AAFBC}"/>
              </a:ext>
            </a:extLst>
          </p:cNvPr>
          <p:cNvSpPr>
            <a:spLocks noChangeAspect="1" noChangeArrowheads="1"/>
          </p:cNvSpPr>
          <p:nvPr/>
        </p:nvSpPr>
        <p:spPr bwMode="auto">
          <a:xfrm>
            <a:off x="139700" y="319088"/>
            <a:ext cx="133350" cy="133350"/>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SG">
              <a:solidFill>
                <a:schemeClr val="lt1"/>
              </a:solidFill>
              <a:latin typeface="Söhne"/>
            </a:endParaRPr>
          </a:p>
        </p:txBody>
      </p:sp>
      <p:sp>
        <p:nvSpPr>
          <p:cNvPr id="3" name="TextBox 2">
            <a:extLst>
              <a:ext uri="{FF2B5EF4-FFF2-40B4-BE49-F238E27FC236}">
                <a16:creationId xmlns:a16="http://schemas.microsoft.com/office/drawing/2014/main" id="{723AB394-FFB6-E15E-37D6-7FA877D0E803}"/>
              </a:ext>
            </a:extLst>
          </p:cNvPr>
          <p:cNvSpPr txBox="1"/>
          <p:nvPr/>
        </p:nvSpPr>
        <p:spPr>
          <a:xfrm>
            <a:off x="5245088" y="1695814"/>
            <a:ext cx="6825497" cy="4770537"/>
          </a:xfrm>
          <a:prstGeom prst="rect">
            <a:avLst/>
          </a:prstGeom>
          <a:noFill/>
        </p:spPr>
        <p:txBody>
          <a:bodyPr wrap="square">
            <a:spAutoFit/>
          </a:bodyPr>
          <a:lstStyle/>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b="1" dirty="0">
                <a:latin typeface="Calibri" panose="020F0502020204030204" pitchFamily="34" charset="0"/>
                <a:ea typeface="Calibri" panose="020F0502020204030204" pitchFamily="34" charset="0"/>
                <a:cs typeface="Calibri" panose="020F0502020204030204" pitchFamily="34" charset="0"/>
              </a:rPr>
              <a:t>Management / Board / Stakeholder Reporting</a:t>
            </a:r>
          </a:p>
          <a:p>
            <a:r>
              <a:rPr lang="en-SG" sz="1400" dirty="0">
                <a:latin typeface="Calibri" panose="020F0502020204030204" pitchFamily="34" charset="0"/>
                <a:ea typeface="Calibri" panose="020F0502020204030204" pitchFamily="34" charset="0"/>
                <a:cs typeface="Calibri" panose="020F0502020204030204" pitchFamily="34" charset="0"/>
              </a:rPr>
              <a:t> – Insightful &amp; credible, enabling decision and execution agility and improving confidence of investors / stakeholders</a:t>
            </a:r>
          </a:p>
          <a:p>
            <a:pPr marL="742950" lvl="1" indent="-285750">
              <a:buFontTx/>
              <a:buChar char="-"/>
            </a:pPr>
            <a:endParaRPr lang="en-SG" sz="1400" b="1" dirty="0">
              <a:latin typeface="Calibri" panose="020F0502020204030204" pitchFamily="34" charset="0"/>
              <a:ea typeface="Calibri" panose="020F0502020204030204" pitchFamily="34" charset="0"/>
              <a:cs typeface="Calibri" panose="020F0502020204030204" pitchFamily="34" charset="0"/>
            </a:endParaRPr>
          </a:p>
          <a:p>
            <a:r>
              <a:rPr lang="en-SG" sz="1400" b="1" dirty="0">
                <a:latin typeface="Calibri" panose="020F0502020204030204" pitchFamily="34" charset="0"/>
                <a:ea typeface="Calibri" panose="020F0502020204030204" pitchFamily="34" charset="0"/>
                <a:cs typeface="Calibri" panose="020F0502020204030204" pitchFamily="34" charset="0"/>
              </a:rPr>
              <a:t>Specific Purpose CFO</a:t>
            </a:r>
          </a:p>
          <a:p>
            <a:pPr lvl="2" indent="-285750">
              <a:buFontTx/>
              <a:buChar char="-"/>
            </a:pPr>
            <a:r>
              <a:rPr lang="en-SG" sz="1400" dirty="0">
                <a:latin typeface="Calibri" panose="020F0502020204030204" pitchFamily="34" charset="0"/>
                <a:ea typeface="Calibri" panose="020F0502020204030204" pitchFamily="34" charset="0"/>
                <a:cs typeface="Calibri" panose="020F0502020204030204" pitchFamily="34" charset="0"/>
              </a:rPr>
              <a:t>I</a:t>
            </a:r>
            <a:r>
              <a:rPr lang="en-SG"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nvestment proposal / financial projection</a:t>
            </a:r>
          </a:p>
          <a:p>
            <a:pPr marL="628650" lvl="2"/>
            <a:r>
              <a:rPr lang="en-GB" sz="1400" dirty="0">
                <a:latin typeface="Calibri" panose="020F0502020204030204" pitchFamily="34" charset="0"/>
                <a:ea typeface="Calibri" panose="020F0502020204030204" pitchFamily="34" charset="0"/>
                <a:cs typeface="Calibri" panose="020F0502020204030204" pitchFamily="34" charset="0"/>
              </a:rPr>
              <a:t>-    Project Management (PRINCE 2 Practitioner)   </a:t>
            </a:r>
            <a:endParaRPr lang="en-SG" sz="1400" dirty="0">
              <a:latin typeface="Calibri" panose="020F0502020204030204" pitchFamily="34" charset="0"/>
              <a:ea typeface="Calibri" panose="020F0502020204030204" pitchFamily="34" charset="0"/>
              <a:cs typeface="Calibri" panose="020F0502020204030204" pitchFamily="34" charset="0"/>
            </a:endParaRPr>
          </a:p>
          <a:p>
            <a:pPr lvl="2" indent="-285750">
              <a:buFontTx/>
              <a:buChar char="-"/>
            </a:pPr>
            <a:r>
              <a:rPr lang="en-GB" sz="1400" dirty="0">
                <a:latin typeface="Calibri" panose="020F0502020204030204" pitchFamily="34" charset="0"/>
                <a:ea typeface="Calibri" panose="020F0502020204030204" pitchFamily="34" charset="0"/>
                <a:cs typeface="Calibri" panose="020F0502020204030204" pitchFamily="34" charset="0"/>
              </a:rPr>
              <a:t>Business Partnering - Cross-Functional Process / Deliverables Re-engineering</a:t>
            </a:r>
          </a:p>
          <a:p>
            <a:pPr lvl="2" indent="-285750">
              <a:buFontTx/>
              <a:buChar char="-"/>
            </a:pPr>
            <a:r>
              <a:rPr lang="en-GB" sz="1400" dirty="0">
                <a:latin typeface="Calibri" panose="020F0502020204030204" pitchFamily="34" charset="0"/>
                <a:ea typeface="Calibri" panose="020F0502020204030204" pitchFamily="34" charset="0"/>
                <a:cs typeface="Calibri" panose="020F0502020204030204" pitchFamily="34" charset="0"/>
              </a:rPr>
              <a:t>Business Partnering - Growth Initiatives</a:t>
            </a:r>
          </a:p>
          <a:p>
            <a:pPr marL="628650" lvl="2"/>
            <a:r>
              <a:rPr lang="en-GB" sz="1400" dirty="0">
                <a:latin typeface="Calibri" panose="020F0502020204030204" pitchFamily="34" charset="0"/>
                <a:ea typeface="Calibri" panose="020F0502020204030204" pitchFamily="34" charset="0"/>
                <a:cs typeface="Calibri" panose="020F0502020204030204" pitchFamily="34" charset="0"/>
              </a:rPr>
              <a:t>-      Scenario modelling &amp; planning</a:t>
            </a:r>
            <a:endParaRPr lang="en-SG" sz="1400" dirty="0">
              <a:latin typeface="Calibri" panose="020F0502020204030204" pitchFamily="34" charset="0"/>
              <a:ea typeface="Calibri" panose="020F0502020204030204" pitchFamily="34" charset="0"/>
              <a:cs typeface="Calibri" panose="020F0502020204030204" pitchFamily="34" charset="0"/>
            </a:endParaRPr>
          </a:p>
          <a:p>
            <a:pPr lvl="2" indent="-285750">
              <a:buFontTx/>
              <a:buChar char="-"/>
            </a:pPr>
            <a:r>
              <a:rPr lang="en-GB" sz="1200" dirty="0">
                <a:latin typeface="Arial" panose="020B0604020202020204" pitchFamily="34" charset="0"/>
                <a:cs typeface="Arial" panose="020B0604020202020204" pitchFamily="34" charset="0"/>
              </a:rPr>
              <a:t>Post M&amp;A Integration, Re-structuring</a:t>
            </a:r>
          </a:p>
          <a:p>
            <a:pPr lvl="2" indent="-285750">
              <a:buFontTx/>
              <a:buChar char="-"/>
            </a:pPr>
            <a:r>
              <a:rPr lang="en-SG" sz="1200" dirty="0">
                <a:latin typeface="Arial" panose="020B0604020202020204" pitchFamily="34" charset="0"/>
                <a:cs typeface="Arial" panose="020B0604020202020204" pitchFamily="34" charset="0"/>
              </a:rPr>
              <a:t>Building FP&amp;A capability</a:t>
            </a:r>
          </a:p>
          <a:p>
            <a:pPr marL="628650" lvl="2"/>
            <a:endParaRPr lang="en-SG" sz="1400" b="0" i="0" u="none" strike="noStrike" dirty="0">
              <a:effectLst/>
              <a:latin typeface="Calibri" panose="020F0502020204030204" pitchFamily="34" charset="0"/>
              <a:ea typeface="Calibri" panose="020F0502020204030204" pitchFamily="34" charset="0"/>
              <a:cs typeface="Calibri" panose="020F0502020204030204" pitchFamily="34" charset="0"/>
            </a:endParaRPr>
          </a:p>
          <a:p>
            <a:r>
              <a:rPr lang="en-GB" sz="1400" b="1" dirty="0">
                <a:latin typeface="Calibri" panose="020F0502020204030204" pitchFamily="34" charset="0"/>
                <a:ea typeface="Calibri" panose="020F0502020204030204" pitchFamily="34" charset="0"/>
                <a:cs typeface="Calibri" panose="020F0502020204030204" pitchFamily="34" charset="0"/>
              </a:rPr>
              <a:t>Transformation</a:t>
            </a:r>
          </a:p>
          <a:p>
            <a:pPr lvl="2" indent="-285750">
              <a:buFontTx/>
              <a:buChar char="-"/>
            </a:pPr>
            <a:r>
              <a:rPr lang="en-GB"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Strategy, Roadmap</a:t>
            </a:r>
            <a:r>
              <a:rPr lang="en-GB" sz="1400" dirty="0">
                <a:latin typeface="Calibri" panose="020F0502020204030204" pitchFamily="34" charset="0"/>
                <a:ea typeface="Calibri" panose="020F0502020204030204" pitchFamily="34" charset="0"/>
                <a:cs typeface="Calibri" panose="020F0502020204030204" pitchFamily="34" charset="0"/>
              </a:rPr>
              <a:t>, Change Management</a:t>
            </a:r>
          </a:p>
          <a:p>
            <a:pPr lvl="2" indent="-285750">
              <a:buFontTx/>
              <a:buChar char="-"/>
            </a:pPr>
            <a:r>
              <a:rPr lang="en-GB"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 Organization / Finance structure and process mapping</a:t>
            </a:r>
            <a:endParaRPr lang="en-SG" sz="1400" b="0" i="0" u="none" strike="noStrike" dirty="0">
              <a:effectLst/>
              <a:latin typeface="Calibri" panose="020F0502020204030204" pitchFamily="34" charset="0"/>
              <a:ea typeface="Calibri" panose="020F0502020204030204" pitchFamily="34" charset="0"/>
              <a:cs typeface="Calibri" panose="020F0502020204030204" pitchFamily="34" charset="0"/>
            </a:endParaRPr>
          </a:p>
          <a:p>
            <a:pPr lvl="2" indent="-285750">
              <a:buFontTx/>
              <a:buChar char="-"/>
            </a:pPr>
            <a:r>
              <a:rPr lang="en-GB"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Financial impact analysis: investment, costs, benefits</a:t>
            </a:r>
            <a:endParaRPr lang="en-GB" sz="1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b="1" dirty="0">
                <a:latin typeface="Calibri" panose="020F0502020204030204" pitchFamily="34" charset="0"/>
                <a:ea typeface="Calibri" panose="020F0502020204030204" pitchFamily="34" charset="0"/>
                <a:cs typeface="Calibri" panose="020F0502020204030204" pitchFamily="34" charset="0"/>
              </a:rPr>
              <a:t>Project &amp;n Transformation:</a:t>
            </a:r>
          </a:p>
          <a:p>
            <a:r>
              <a:rPr lang="en-GB" sz="1400" dirty="0">
                <a:latin typeface="Calibri" panose="020F0502020204030204" pitchFamily="34" charset="0"/>
                <a:ea typeface="Calibri" panose="020F0502020204030204" pitchFamily="34" charset="0"/>
                <a:cs typeface="Calibri" panose="020F0502020204030204" pitchFamily="34" charset="0"/>
              </a:rPr>
              <a:t>Productivity – Cost Optimization: Diagnostics, proposals, Roadmaps, change management, tracking</a:t>
            </a:r>
            <a:endParaRPr lang="en-SG" sz="14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5A14F82-8755-9E78-6B6C-89C27578364E}"/>
              </a:ext>
            </a:extLst>
          </p:cNvPr>
          <p:cNvSpPr txBox="1"/>
          <p:nvPr/>
        </p:nvSpPr>
        <p:spPr>
          <a:xfrm>
            <a:off x="795445" y="872269"/>
            <a:ext cx="10962319" cy="830997"/>
          </a:xfrm>
          <a:prstGeom prst="rect">
            <a:avLst/>
          </a:prstGeom>
          <a:noFill/>
        </p:spPr>
        <p:txBody>
          <a:bodyPr wrap="square">
            <a:spAutoFit/>
          </a:bodyPr>
          <a:lstStyle/>
          <a:p>
            <a:r>
              <a:rPr lang="en-GB" sz="2400" dirty="0"/>
              <a:t>On‑demand C‑suite finance leadership to steer strategy, scale operation, build capability. Innovative &amp; pragmatic solutions tailored to specific needs. </a:t>
            </a:r>
          </a:p>
        </p:txBody>
      </p:sp>
      <p:sp>
        <p:nvSpPr>
          <p:cNvPr id="7" name="Rectangle 6">
            <a:extLst>
              <a:ext uri="{FF2B5EF4-FFF2-40B4-BE49-F238E27FC236}">
                <a16:creationId xmlns:a16="http://schemas.microsoft.com/office/drawing/2014/main" id="{3E5A94A1-5AE5-18A8-273C-4FF379BB70DA}"/>
              </a:ext>
            </a:extLst>
          </p:cNvPr>
          <p:cNvSpPr/>
          <p:nvPr/>
        </p:nvSpPr>
        <p:spPr>
          <a:xfrm>
            <a:off x="3260549" y="333801"/>
            <a:ext cx="5931017" cy="5384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Corbel" panose="020B0503020204020204" pitchFamily="34" charset="0"/>
              </a:rPr>
              <a:t>Fractional CFO </a:t>
            </a:r>
            <a:endParaRPr lang="en-GB" sz="2800" b="1" i="0" dirty="0">
              <a:solidFill>
                <a:schemeClr val="tx1"/>
              </a:solidFill>
              <a:effectLst/>
              <a:latin typeface="Corbel" panose="020B0503020204020204" pitchFamily="34" charset="0"/>
            </a:endParaRPr>
          </a:p>
        </p:txBody>
      </p:sp>
    </p:spTree>
    <p:extLst>
      <p:ext uri="{BB962C8B-B14F-4D97-AF65-F5344CB8AC3E}">
        <p14:creationId xmlns:p14="http://schemas.microsoft.com/office/powerpoint/2010/main" val="2090132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9904D-5247-315F-5C62-DFFA833C7E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2C9486-42B7-4109-3D33-8DB62C941409}"/>
              </a:ext>
            </a:extLst>
          </p:cNvPr>
          <p:cNvPicPr>
            <a:picLocks noChangeAspect="1"/>
          </p:cNvPicPr>
          <p:nvPr/>
        </p:nvPicPr>
        <p:blipFill>
          <a:blip r:embed="rId2"/>
          <a:stretch>
            <a:fillRect/>
          </a:stretch>
        </p:blipFill>
        <p:spPr>
          <a:xfrm>
            <a:off x="1953882" y="800547"/>
            <a:ext cx="1771897" cy="1895740"/>
          </a:xfrm>
          <a:prstGeom prst="rect">
            <a:avLst/>
          </a:prstGeom>
        </p:spPr>
      </p:pic>
      <p:pic>
        <p:nvPicPr>
          <p:cNvPr id="7" name="Picture 6">
            <a:extLst>
              <a:ext uri="{FF2B5EF4-FFF2-40B4-BE49-F238E27FC236}">
                <a16:creationId xmlns:a16="http://schemas.microsoft.com/office/drawing/2014/main" id="{787B7E92-9699-3DAA-9BBF-A66672D956BE}"/>
              </a:ext>
            </a:extLst>
          </p:cNvPr>
          <p:cNvPicPr>
            <a:picLocks noChangeAspect="1"/>
          </p:cNvPicPr>
          <p:nvPr/>
        </p:nvPicPr>
        <p:blipFill>
          <a:blip r:embed="rId2"/>
          <a:stretch>
            <a:fillRect/>
          </a:stretch>
        </p:blipFill>
        <p:spPr>
          <a:xfrm>
            <a:off x="8096535" y="639806"/>
            <a:ext cx="1771897" cy="1895740"/>
          </a:xfrm>
          <a:prstGeom prst="rect">
            <a:avLst/>
          </a:prstGeom>
        </p:spPr>
      </p:pic>
      <p:sp>
        <p:nvSpPr>
          <p:cNvPr id="8" name="TextBox 7">
            <a:extLst>
              <a:ext uri="{FF2B5EF4-FFF2-40B4-BE49-F238E27FC236}">
                <a16:creationId xmlns:a16="http://schemas.microsoft.com/office/drawing/2014/main" id="{6450C34E-60C9-41CD-FA23-4704850195A2}"/>
              </a:ext>
            </a:extLst>
          </p:cNvPr>
          <p:cNvSpPr txBox="1"/>
          <p:nvPr/>
        </p:nvSpPr>
        <p:spPr>
          <a:xfrm>
            <a:off x="6456357" y="1336172"/>
            <a:ext cx="5931016" cy="5262979"/>
          </a:xfrm>
          <a:prstGeom prst="rect">
            <a:avLst/>
          </a:prstGeom>
          <a:solidFill>
            <a:schemeClr val="bg1"/>
          </a:solidFill>
        </p:spPr>
        <p:txBody>
          <a:bodyPr wrap="square" rtlCol="0">
            <a:spAutoFit/>
          </a:bodyPr>
          <a:lstStyle/>
          <a:p>
            <a:pPr algn="ctr"/>
            <a:r>
              <a:rPr lang="en-GB" sz="1400" b="1" dirty="0">
                <a:solidFill>
                  <a:srgbClr val="000000"/>
                </a:solidFill>
                <a:latin typeface="Verdana" panose="020B0604030504040204" pitchFamily="34" charset="0"/>
              </a:rPr>
              <a:t>Regulatory Reporting &amp; Advisory</a:t>
            </a:r>
          </a:p>
          <a:p>
            <a:pPr algn="ctr"/>
            <a:r>
              <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rPr>
              <a:t>Full financial Reporting Services,  SFRS, SFRS(I), IFRS(I), ACRA, IRAS, Company Act compliant</a:t>
            </a: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Directors’ Report, Financial Statements +Notes</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Annual Return and tax filing</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Pre-map compliance thresholds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Assess exemption scenarios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Offer Group Efficiency Package</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Minimize clients burdens</a:t>
            </a: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Key benefits:</a:t>
            </a:r>
          </a:p>
          <a:p>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6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600" dirty="0">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Meet reporting requirement efficiently</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Simplify compliance </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a:t>
            </a:r>
            <a:r>
              <a:rPr lang="en-SG" sz="1400" dirty="0">
                <a:latin typeface="Calibri" panose="020F0502020204030204" pitchFamily="34" charset="0"/>
                <a:ea typeface="Calibri" panose="020F0502020204030204" pitchFamily="34" charset="0"/>
                <a:cs typeface="Calibri" panose="020F0502020204030204" pitchFamily="34" charset="0"/>
              </a:rPr>
              <a:t>Enable strategic choices, optimum protection, and disclosure controls.</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latin typeface="Calibri" panose="020F0502020204030204" pitchFamily="34" charset="0"/>
                <a:ea typeface="Calibri" panose="020F0502020204030204" pitchFamily="34" charset="0"/>
                <a:cs typeface="Calibri" panose="020F0502020204030204" pitchFamily="34" charset="0"/>
              </a:rPr>
              <a:t>		</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b="1"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over-reporting</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data overload</a:t>
            </a:r>
          </a:p>
          <a:p>
            <a:r>
              <a:rPr lang="en-SG" sz="1400" dirty="0">
                <a:solidFill>
                  <a:srgbClr val="000000"/>
                </a:solidFill>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solidFill>
                  <a:srgbClr val="000000"/>
                </a:solidFill>
                <a:latin typeface="Calibri" panose="020F0502020204030204" pitchFamily="34" charset="0"/>
                <a:ea typeface="Calibri" panose="020F0502020204030204" pitchFamily="34" charset="0"/>
                <a:cs typeface="Calibri" panose="020F0502020204030204" pitchFamily="34" charset="0"/>
              </a:rPr>
              <a:t> unnecessary disclosure</a:t>
            </a: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GB" sz="1400" dirty="0">
              <a:solidFill>
                <a:srgbClr val="000000"/>
              </a:solidFill>
              <a:latin typeface="Verdana" panose="020B0604030504040204" pitchFamily="34" charset="0"/>
            </a:endParaRPr>
          </a:p>
          <a:p>
            <a:endParaRPr lang="en-GB" sz="1200" dirty="0"/>
          </a:p>
        </p:txBody>
      </p:sp>
      <p:sp>
        <p:nvSpPr>
          <p:cNvPr id="2" name="Rectangle 1">
            <a:extLst>
              <a:ext uri="{FF2B5EF4-FFF2-40B4-BE49-F238E27FC236}">
                <a16:creationId xmlns:a16="http://schemas.microsoft.com/office/drawing/2014/main" id="{CDEB2C9D-2911-1ED3-2FAE-2359F214715C}"/>
              </a:ext>
            </a:extLst>
          </p:cNvPr>
          <p:cNvSpPr/>
          <p:nvPr/>
        </p:nvSpPr>
        <p:spPr>
          <a:xfrm>
            <a:off x="3276047" y="136098"/>
            <a:ext cx="5931017" cy="5384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Söhne"/>
              </a:rPr>
              <a:t>Corporate Structuring </a:t>
            </a:r>
            <a:endParaRPr lang="en-GB" sz="2800" b="1" i="0" dirty="0">
              <a:solidFill>
                <a:schemeClr val="tx1"/>
              </a:solidFill>
              <a:effectLst/>
              <a:latin typeface="Söhne"/>
            </a:endParaRPr>
          </a:p>
        </p:txBody>
      </p:sp>
      <p:sp>
        <p:nvSpPr>
          <p:cNvPr id="4" name="TextBox 3">
            <a:extLst>
              <a:ext uri="{FF2B5EF4-FFF2-40B4-BE49-F238E27FC236}">
                <a16:creationId xmlns:a16="http://schemas.microsoft.com/office/drawing/2014/main" id="{FF185867-3479-69E9-DF80-A38B85BE79CA}"/>
              </a:ext>
            </a:extLst>
          </p:cNvPr>
          <p:cNvSpPr txBox="1"/>
          <p:nvPr/>
        </p:nvSpPr>
        <p:spPr>
          <a:xfrm>
            <a:off x="629474" y="1587676"/>
            <a:ext cx="4718133" cy="1754326"/>
          </a:xfrm>
          <a:prstGeom prst="rect">
            <a:avLst/>
          </a:prstGeom>
          <a:solidFill>
            <a:schemeClr val="bg1"/>
          </a:solidFill>
        </p:spPr>
        <p:txBody>
          <a:bodyPr wrap="square">
            <a:spAutoFit/>
          </a:bodyPr>
          <a:lstStyle/>
          <a:p>
            <a:r>
              <a:rPr lang="en-GB" sz="1800" dirty="0">
                <a:latin typeface="Arial" panose="020B0604020202020204" pitchFamily="34" charset="0"/>
                <a:cs typeface="Arial" panose="020B0604020202020204" pitchFamily="34" charset="0"/>
              </a:rPr>
              <a:t>ESG Compliance</a:t>
            </a:r>
          </a:p>
          <a:p>
            <a:endParaRPr lang="en-GB" dirty="0">
              <a:latin typeface="Arial" panose="020B0604020202020204" pitchFamily="34" charset="0"/>
              <a:cs typeface="Arial" panose="020B0604020202020204" pitchFamily="34" charset="0"/>
            </a:endParaRPr>
          </a:p>
          <a:p>
            <a:r>
              <a:rPr lang="en-GB" sz="1800" dirty="0">
                <a:latin typeface="Arial" panose="020B0604020202020204" pitchFamily="34" charset="0"/>
                <a:cs typeface="Arial" panose="020B0604020202020204" pitchFamily="34" charset="0"/>
              </a:rPr>
              <a:t>Turn </a:t>
            </a:r>
            <a:r>
              <a:rPr lang="en-GB" sz="1800" dirty="0"/>
              <a:t>ESG Compliance:</a:t>
            </a:r>
          </a:p>
          <a:p>
            <a:pPr marL="171450" indent="-171450">
              <a:buFont typeface="Arial" panose="020B0604020202020204" pitchFamily="34" charset="0"/>
              <a:buChar char="•"/>
            </a:pPr>
            <a:r>
              <a:rPr lang="en-GB" sz="1800" dirty="0">
                <a:latin typeface="Arial" panose="020B0604020202020204" pitchFamily="34" charset="0"/>
                <a:cs typeface="Arial" panose="020B0604020202020204" pitchFamily="34" charset="0"/>
              </a:rPr>
              <a:t>CSRD Fast‑Track Diagnostic</a:t>
            </a:r>
          </a:p>
          <a:p>
            <a:pPr marL="171450" indent="-171450">
              <a:buFont typeface="Arial" panose="020B0604020202020204" pitchFamily="34" charset="0"/>
              <a:buChar char="•"/>
            </a:pPr>
            <a:r>
              <a:rPr lang="en-GB" sz="1800" dirty="0"/>
              <a:t>AML Independent Review (CSP‑Act)</a:t>
            </a:r>
          </a:p>
          <a:p>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5606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04A303-165A-CA4E-E4FB-CAF4BE90DFDE}"/>
              </a:ext>
            </a:extLst>
          </p:cNvPr>
          <p:cNvSpPr txBox="1"/>
          <p:nvPr/>
        </p:nvSpPr>
        <p:spPr>
          <a:xfrm>
            <a:off x="4450784" y="380692"/>
            <a:ext cx="3478837" cy="584775"/>
          </a:xfrm>
          <a:prstGeom prst="rect">
            <a:avLst/>
          </a:prstGeom>
          <a:noFill/>
        </p:spPr>
        <p:txBody>
          <a:bodyPr wrap="none" rtlCol="0">
            <a:spAutoFit/>
          </a:bodyPr>
          <a:lstStyle/>
          <a:p>
            <a:r>
              <a:rPr lang="en-GB" sz="3200" dirty="0"/>
              <a:t>Business Consulting</a:t>
            </a:r>
            <a:endParaRPr lang="en-SG" sz="3200" dirty="0"/>
          </a:p>
        </p:txBody>
      </p:sp>
      <p:sp>
        <p:nvSpPr>
          <p:cNvPr id="12" name="TextBox 11">
            <a:extLst>
              <a:ext uri="{FF2B5EF4-FFF2-40B4-BE49-F238E27FC236}">
                <a16:creationId xmlns:a16="http://schemas.microsoft.com/office/drawing/2014/main" id="{1DD4359C-5240-5326-FBC9-E3750724BA89}"/>
              </a:ext>
            </a:extLst>
          </p:cNvPr>
          <p:cNvSpPr txBox="1"/>
          <p:nvPr/>
        </p:nvSpPr>
        <p:spPr>
          <a:xfrm>
            <a:off x="117494" y="4737009"/>
            <a:ext cx="449426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solidFill>
                  <a:schemeClr val="bg1"/>
                </a:solidFill>
                <a:latin typeface="Arial" panose="020B0604020202020204" pitchFamily="34" charset="0"/>
                <a:ea typeface="Open Sans" panose="020B0606030504020204" pitchFamily="34" charset="0"/>
              </a:rPr>
              <a:t>Contact us at </a:t>
            </a:r>
            <a:r>
              <a:rPr lang="en-US" altLang="en-US" b="1" u="sng" dirty="0">
                <a:solidFill>
                  <a:schemeClr val="bg1"/>
                </a:solidFill>
                <a:latin typeface="Arial" panose="020B0604020202020204" pitchFamily="34" charset="0"/>
                <a:ea typeface="Open Sans" panose="020B0606030504020204" pitchFamily="34" charset="0"/>
                <a:hlinkClick r:id="rId2">
                  <a:extLst>
                    <a:ext uri="{A12FA001-AC4F-418D-AE19-62706E023703}">
                      <ahyp:hlinkClr xmlns:ahyp="http://schemas.microsoft.com/office/drawing/2018/hyperlinkcolor" val="tx"/>
                    </a:ext>
                  </a:extLst>
                </a:hlinkClick>
              </a:rPr>
              <a:t>info</a:t>
            </a:r>
            <a:r>
              <a:rPr kumimoji="0" lang="en-US" altLang="en-US" sz="1800" b="1" i="0" u="sng" strike="noStrike" cap="none" normalizeH="0" baseline="0" dirty="0">
                <a:ln>
                  <a:noFill/>
                </a:ln>
                <a:solidFill>
                  <a:schemeClr val="bg1"/>
                </a:solidFill>
                <a:effectLst/>
                <a:latin typeface="Arial" panose="020B0604020202020204" pitchFamily="34" charset="0"/>
                <a:ea typeface="Open Sans" panose="020B0606030504020204" pitchFamily="34" charset="0"/>
                <a:hlinkClick r:id="rId2">
                  <a:extLst>
                    <a:ext uri="{A12FA001-AC4F-418D-AE19-62706E023703}">
                      <ahyp:hlinkClr xmlns:ahyp="http://schemas.microsoft.com/office/drawing/2018/hyperlinkcolor" val="tx"/>
                    </a:ext>
                  </a:extLst>
                </a:hlinkClick>
              </a:rPr>
              <a:t>@IslandCap-g.com</a:t>
            </a:r>
            <a:endParaRPr kumimoji="0" lang="en-US" altLang="en-US" sz="1800" b="1" i="0" u="sng" strike="noStrike" cap="none" normalizeH="0" baseline="0" dirty="0">
              <a:ln>
                <a:noFill/>
              </a:ln>
              <a:solidFill>
                <a:schemeClr val="bg1"/>
              </a:solidFill>
              <a:effectLst/>
              <a:latin typeface="Arial" panose="020B0604020202020204" pitchFamily="34" charset="0"/>
              <a:ea typeface="Open Sans" panose="020B0606030504020204" pitchFamily="34" charset="0"/>
            </a:endParaRPr>
          </a:p>
        </p:txBody>
      </p:sp>
      <p:sp>
        <p:nvSpPr>
          <p:cNvPr id="7" name="Rectangle 6">
            <a:extLst>
              <a:ext uri="{FF2B5EF4-FFF2-40B4-BE49-F238E27FC236}">
                <a16:creationId xmlns:a16="http://schemas.microsoft.com/office/drawing/2014/main" id="{20C12DC5-B841-47B3-01F3-D5FE197AD0CE}"/>
              </a:ext>
            </a:extLst>
          </p:cNvPr>
          <p:cNvSpPr/>
          <p:nvPr/>
        </p:nvSpPr>
        <p:spPr>
          <a:xfrm>
            <a:off x="478306" y="1579223"/>
            <a:ext cx="2815691" cy="5514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i="0" dirty="0">
                <a:solidFill>
                  <a:schemeClr val="tx1"/>
                </a:solidFill>
                <a:effectLst/>
                <a:latin typeface="Arial" panose="020B0604020202020204" pitchFamily="34" charset="0"/>
                <a:cs typeface="Arial" panose="020B0604020202020204" pitchFamily="34" charset="0"/>
              </a:rPr>
              <a:t>Services</a:t>
            </a:r>
          </a:p>
        </p:txBody>
      </p:sp>
      <p:sp>
        <p:nvSpPr>
          <p:cNvPr id="8" name="TextBox 7">
            <a:extLst>
              <a:ext uri="{FF2B5EF4-FFF2-40B4-BE49-F238E27FC236}">
                <a16:creationId xmlns:a16="http://schemas.microsoft.com/office/drawing/2014/main" id="{80CE6C85-E9DC-D9A3-A278-D3812FBACBBB}"/>
              </a:ext>
            </a:extLst>
          </p:cNvPr>
          <p:cNvSpPr txBox="1"/>
          <p:nvPr/>
        </p:nvSpPr>
        <p:spPr>
          <a:xfrm>
            <a:off x="312826" y="1854926"/>
            <a:ext cx="4137958" cy="31085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sz="1400" dirty="0">
                <a:latin typeface="Calibri" panose="020F0502020204030204" pitchFamily="34" charset="0"/>
                <a:ea typeface="Calibri" panose="020F0502020204030204" pitchFamily="34" charset="0"/>
                <a:cs typeface="Calibri" panose="020F0502020204030204" pitchFamily="34" charset="0"/>
              </a:rPr>
              <a:t>B</a:t>
            </a:r>
            <a:r>
              <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usiness plans and cash flow forecast</a:t>
            </a:r>
          </a:p>
          <a:p>
            <a:pPr marL="285750" indent="-285750" eaLnBrk="0" fontAlgn="base" hangingPunct="0">
              <a:spcBef>
                <a:spcPct val="0"/>
              </a:spcBef>
              <a:spcAft>
                <a:spcPct val="0"/>
              </a:spcAft>
              <a:buFont typeface="Arial" panose="020B0604020202020204" pitchFamily="34" charset="0"/>
              <a:buChar char="•"/>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Operational process &amp; efficiency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Performance management improvement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Project management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O</a:t>
            </a:r>
            <a:r>
              <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rganizational structure &amp; re-organization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   Market research &amp; Analysis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sz="1400" dirty="0">
                <a:latin typeface="Calibri" panose="020F0502020204030204" pitchFamily="34" charset="0"/>
                <a:ea typeface="Calibri" panose="020F0502020204030204" pitchFamily="34" charset="0"/>
                <a:cs typeface="Calibri" panose="020F0502020204030204" pitchFamily="34" charset="0"/>
              </a:rPr>
              <a:t>Mitigating Start-up failure risks</a:t>
            </a:r>
          </a:p>
        </p:txBody>
      </p:sp>
      <p:sp>
        <p:nvSpPr>
          <p:cNvPr id="11" name="Rectangle 10">
            <a:extLst>
              <a:ext uri="{FF2B5EF4-FFF2-40B4-BE49-F238E27FC236}">
                <a16:creationId xmlns:a16="http://schemas.microsoft.com/office/drawing/2014/main" id="{8B9A6B8F-7B25-EF56-134E-0E59AC8FFB4F}"/>
              </a:ext>
            </a:extLst>
          </p:cNvPr>
          <p:cNvSpPr/>
          <p:nvPr/>
        </p:nvSpPr>
        <p:spPr>
          <a:xfrm>
            <a:off x="8368684" y="1564119"/>
            <a:ext cx="2689319" cy="5514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i="0" dirty="0">
                <a:solidFill>
                  <a:schemeClr val="tx1"/>
                </a:solidFill>
                <a:effectLst/>
                <a:latin typeface="Arial" panose="020B0604020202020204" pitchFamily="34" charset="0"/>
                <a:cs typeface="Arial" panose="020B0604020202020204" pitchFamily="34" charset="0"/>
              </a:rPr>
              <a:t>Unique Value</a:t>
            </a:r>
          </a:p>
        </p:txBody>
      </p:sp>
      <p:sp>
        <p:nvSpPr>
          <p:cNvPr id="13" name="TextBox 12">
            <a:extLst>
              <a:ext uri="{FF2B5EF4-FFF2-40B4-BE49-F238E27FC236}">
                <a16:creationId xmlns:a16="http://schemas.microsoft.com/office/drawing/2014/main" id="{878A7DAC-EC95-787E-68B7-0C7ADC16737C}"/>
              </a:ext>
            </a:extLst>
          </p:cNvPr>
          <p:cNvSpPr txBox="1"/>
          <p:nvPr/>
        </p:nvSpPr>
        <p:spPr>
          <a:xfrm>
            <a:off x="7648508" y="2114121"/>
            <a:ext cx="4392044" cy="3754874"/>
          </a:xfrm>
          <a:prstGeom prst="rect">
            <a:avLst/>
          </a:prstGeom>
          <a:noFill/>
        </p:spPr>
        <p:txBody>
          <a:bodyPr wrap="square">
            <a:spAutoFit/>
          </a:bodyPr>
          <a:lstStyle/>
          <a:p>
            <a:pPr marL="285750" indent="-285750">
              <a:buFont typeface="Arial" panose="020B0604020202020204" pitchFamily="34" charset="0"/>
              <a:buChar char="•"/>
            </a:pPr>
            <a:endParaRPr lang="en-GB" sz="14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Proven framework &amp; methodologies identifying and connecting ‘perceived now’ and ‘want to be in future’ </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From ideas to execution</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Bridging strategic thinking with operational excellence</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Superb communications, articulation, alignment, collaboration</a:t>
            </a:r>
          </a:p>
          <a:p>
            <a:pPr marL="285750" indent="-285750">
              <a:buFont typeface="Arial" panose="020B0604020202020204" pitchFamily="34" charset="0"/>
              <a:buChar char="•"/>
            </a:pPr>
            <a:endParaRPr lang="en-GB" sz="14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Track records of success with:</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MNCs</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SMEs</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Conglomerates</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start-ups </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B2C0787C-3729-FE8E-91A4-9B22B6A6E1DA}"/>
              </a:ext>
            </a:extLst>
          </p:cNvPr>
          <p:cNvSpPr txBox="1"/>
          <p:nvPr/>
        </p:nvSpPr>
        <p:spPr>
          <a:xfrm>
            <a:off x="4450784" y="1643377"/>
            <a:ext cx="2562689" cy="369332"/>
          </a:xfrm>
          <a:prstGeom prst="rect">
            <a:avLst/>
          </a:prstGeom>
          <a:noFill/>
          <a:ln>
            <a:solidFill>
              <a:schemeClr val="bg1">
                <a:lumMod val="95000"/>
              </a:schemeClr>
            </a:solidFill>
          </a:ln>
        </p:spPr>
        <p:txBody>
          <a:bodyPr wrap="square">
            <a:spAutoFit/>
          </a:bodyPr>
          <a:lstStyle/>
          <a:p>
            <a:pPr lvl="1" algn="ctr"/>
            <a:r>
              <a:rPr lang="en-GB" b="1" dirty="0">
                <a:latin typeface="Arial" panose="020B0604020202020204" pitchFamily="34" charset="0"/>
                <a:cs typeface="Arial" panose="020B0604020202020204" pitchFamily="34" charset="0"/>
              </a:rPr>
              <a:t>Expertise</a:t>
            </a:r>
          </a:p>
        </p:txBody>
      </p:sp>
      <p:sp>
        <p:nvSpPr>
          <p:cNvPr id="17" name="TextBox 16">
            <a:extLst>
              <a:ext uri="{FF2B5EF4-FFF2-40B4-BE49-F238E27FC236}">
                <a16:creationId xmlns:a16="http://schemas.microsoft.com/office/drawing/2014/main" id="{1FFC3B0A-96FC-84AC-A115-9D2A0302ACA5}"/>
              </a:ext>
            </a:extLst>
          </p:cNvPr>
          <p:cNvSpPr txBox="1"/>
          <p:nvPr/>
        </p:nvSpPr>
        <p:spPr>
          <a:xfrm>
            <a:off x="4450784" y="2290597"/>
            <a:ext cx="2948940" cy="2677656"/>
          </a:xfrm>
          <a:prstGeom prst="rect">
            <a:avLst/>
          </a:prstGeom>
          <a:noFill/>
        </p:spPr>
        <p:txBody>
          <a:bodyPr wrap="square">
            <a:spAutoFit/>
          </a:bodyPr>
          <a:lstStyle/>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Served clients in most of Asia, US, Europe, and Middle East</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Covered broad range of industries and subjects</a:t>
            </a:r>
          </a:p>
          <a:p>
            <a:pPr marL="285750" indent="-285750">
              <a:buFont typeface="Arial" panose="020B0604020202020204" pitchFamily="34" charset="0"/>
              <a:buChar char="•"/>
            </a:pPr>
            <a:endParaRPr lang="en-SG"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Bain &amp; Company experiences</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Extensive global knowledge &amp; network</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15" name="Oval 14">
            <a:extLst>
              <a:ext uri="{FF2B5EF4-FFF2-40B4-BE49-F238E27FC236}">
                <a16:creationId xmlns:a16="http://schemas.microsoft.com/office/drawing/2014/main" id="{4A766C2C-8631-9303-02E2-6A0E3A2F6AAD}"/>
              </a:ext>
            </a:extLst>
          </p:cNvPr>
          <p:cNvSpPr/>
          <p:nvPr/>
        </p:nvSpPr>
        <p:spPr>
          <a:xfrm>
            <a:off x="4236812" y="1401558"/>
            <a:ext cx="822960" cy="699672"/>
          </a:xfrm>
          <a:prstGeom prst="ellipse">
            <a:avLst/>
          </a:prstGeom>
          <a:solidFill>
            <a:srgbClr val="009E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t>25</a:t>
            </a:r>
          </a:p>
          <a:p>
            <a:pPr algn="ctr"/>
            <a:r>
              <a:rPr lang="en-GB" sz="1400" b="1" dirty="0"/>
              <a:t>years</a:t>
            </a:r>
            <a:endParaRPr lang="en-SG" sz="1400" b="1" dirty="0"/>
          </a:p>
        </p:txBody>
      </p:sp>
    </p:spTree>
    <p:extLst>
      <p:ext uri="{BB962C8B-B14F-4D97-AF65-F5344CB8AC3E}">
        <p14:creationId xmlns:p14="http://schemas.microsoft.com/office/powerpoint/2010/main" val="2656842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2">
            <a:extLst>
              <a:ext uri="{FF2B5EF4-FFF2-40B4-BE49-F238E27FC236}">
                <a16:creationId xmlns:a16="http://schemas.microsoft.com/office/drawing/2014/main" id="{BAF75498-E4F2-4118-A1B4-FDDDD35E0411}"/>
              </a:ext>
            </a:extLst>
          </p:cNvPr>
          <p:cNvSpPr>
            <a:spLocks noGrp="1"/>
          </p:cNvSpPr>
          <p:nvPr>
            <p:ph type="subTitle" idx="1"/>
          </p:nvPr>
        </p:nvSpPr>
        <p:spPr>
          <a:xfrm>
            <a:off x="2727832" y="760122"/>
            <a:ext cx="9464168" cy="4869719"/>
          </a:xfrm>
        </p:spPr>
        <p:txBody>
          <a:bodyPr>
            <a:noAutofit/>
          </a:bodyPr>
          <a:lstStyle/>
          <a:p>
            <a:pPr algn="l"/>
            <a:r>
              <a:rPr lang="en-US" altLang="en-US" sz="1600" dirty="0">
                <a:solidFill>
                  <a:schemeClr val="tx1"/>
                </a:solidFill>
              </a:rPr>
              <a:t>Isabella is an </a:t>
            </a:r>
            <a:r>
              <a:rPr lang="en-US" altLang="zh-CN" sz="1600" dirty="0">
                <a:solidFill>
                  <a:schemeClr val="tx1"/>
                </a:solidFill>
              </a:rPr>
              <a:t>accomplished i</a:t>
            </a:r>
            <a:r>
              <a:rPr lang="en-US" altLang="en-US" sz="1600" dirty="0">
                <a:solidFill>
                  <a:schemeClr val="tx1"/>
                </a:solidFill>
              </a:rPr>
              <a:t>nternational finance and business leader </a:t>
            </a:r>
            <a:r>
              <a:rPr lang="en-GB" sz="1600" dirty="0"/>
              <a:t>with &gt; 20 years of leadership experiences with leading MNCs</a:t>
            </a:r>
            <a:r>
              <a:rPr lang="en-US" altLang="en-US" sz="1600" dirty="0"/>
              <a:t> including </a:t>
            </a:r>
            <a:r>
              <a:rPr lang="en-US" altLang="en-US" sz="1600" dirty="0">
                <a:solidFill>
                  <a:schemeClr val="tx1"/>
                </a:solidFill>
              </a:rPr>
              <a:t>Microsoft, Unilever, Energizer, </a:t>
            </a:r>
            <a:r>
              <a:rPr lang="en-US" altLang="zh-CN" sz="1600" dirty="0"/>
              <a:t>Diageo</a:t>
            </a:r>
            <a:r>
              <a:rPr lang="en-SG" altLang="zh-CN" sz="1600" dirty="0"/>
              <a:t>,</a:t>
            </a:r>
            <a:r>
              <a:rPr lang="zh-CN" altLang="en-US" sz="1600" dirty="0"/>
              <a:t> </a:t>
            </a:r>
            <a:r>
              <a:rPr lang="en-SG" altLang="zh-CN" sz="1600" dirty="0"/>
              <a:t>BAT, Boston Scientific.</a:t>
            </a:r>
          </a:p>
          <a:p>
            <a:pPr algn="l"/>
            <a:endParaRPr lang="en-US" altLang="zh-CN" sz="300" dirty="0">
              <a:solidFill>
                <a:schemeClr val="tx1"/>
              </a:solidFill>
            </a:endParaRPr>
          </a:p>
          <a:p>
            <a:pPr algn="l"/>
            <a:r>
              <a:rPr lang="en-US" altLang="en-US" sz="1600" dirty="0">
                <a:solidFill>
                  <a:schemeClr val="tx1"/>
                </a:solidFill>
              </a:rPr>
              <a:t>She has managed 6 complex regions spanning </a:t>
            </a:r>
            <a:r>
              <a:rPr lang="en-GB" altLang="en-US" sz="1600" dirty="0">
                <a:solidFill>
                  <a:schemeClr val="tx1"/>
                </a:solidFill>
              </a:rPr>
              <a:t>over 40 countries, leading Finance, Strategy, Transformation, Business Process, Governance, and Consulting</a:t>
            </a:r>
            <a:r>
              <a:rPr lang="en-US" altLang="en-US" sz="1600" dirty="0">
                <a:solidFill>
                  <a:schemeClr val="tx1"/>
                </a:solidFill>
              </a:rPr>
              <a:t>.</a:t>
            </a:r>
          </a:p>
          <a:p>
            <a:pPr algn="l"/>
            <a:endParaRPr lang="en-US" altLang="en-US" sz="300" dirty="0">
              <a:solidFill>
                <a:schemeClr val="tx1"/>
              </a:solidFill>
            </a:endParaRPr>
          </a:p>
          <a:p>
            <a:pPr algn="l"/>
            <a:r>
              <a:rPr lang="en-GB" altLang="en-US" sz="1600" dirty="0"/>
              <a:t>Isabella has strong experience in formulating and operationalize strategies, driving execution in collaboration with diverse stakeholders globally to deliver target result. S</a:t>
            </a:r>
            <a:r>
              <a:rPr lang="en-US" altLang="en-US" sz="1600" dirty="0"/>
              <a:t>he has a </a:t>
            </a:r>
            <a:r>
              <a:rPr lang="en-US" altLang="en-US" sz="1600" dirty="0">
                <a:solidFill>
                  <a:schemeClr val="tx1"/>
                </a:solidFill>
              </a:rPr>
              <a:t>track record of success driving profitable growth, turnarounds, investment priorities, transforming strategies, systems, processes, and capabilities</a:t>
            </a:r>
            <a:r>
              <a:rPr lang="en-US" altLang="en-US" sz="1600" dirty="0"/>
              <a:t> for the world’s top-tier companies</a:t>
            </a:r>
            <a:r>
              <a:rPr lang="en-US" altLang="en-US" sz="1600" dirty="0">
                <a:solidFill>
                  <a:schemeClr val="tx1"/>
                </a:solidFill>
              </a:rPr>
              <a:t>.</a:t>
            </a:r>
          </a:p>
          <a:p>
            <a:pPr algn="l"/>
            <a:r>
              <a:rPr lang="en-US" altLang="en-US" sz="1600" dirty="0"/>
              <a:t>In her consulting roles, Isabella </a:t>
            </a:r>
            <a:r>
              <a:rPr lang="en-GB" altLang="en-US" sz="1600" dirty="0"/>
              <a:t>partners with global teams  to scale operations, guide strategies and execution, build operational structure and capability. </a:t>
            </a:r>
            <a:endParaRPr lang="en-US" altLang="en-US" sz="1600" dirty="0">
              <a:solidFill>
                <a:schemeClr val="tx1"/>
              </a:solidFill>
            </a:endParaRPr>
          </a:p>
          <a:p>
            <a:pPr algn="l"/>
            <a:endParaRPr lang="en-US" altLang="en-US" sz="300" dirty="0">
              <a:solidFill>
                <a:schemeClr val="tx1"/>
              </a:solidFill>
            </a:endParaRPr>
          </a:p>
          <a:p>
            <a:pPr algn="l"/>
            <a:r>
              <a:rPr lang="en-GB" altLang="en-US" sz="1600" dirty="0"/>
              <a:t>Isabella is an APAC expert with on-the-ground experience in multiple markets, multilingual (Mandarin, Cantonese, English, Bahasa Indonesia). Leveraging her knowledge and network, she has helped companies </a:t>
            </a:r>
            <a:r>
              <a:rPr lang="en-SG" altLang="en-US" sz="1600" dirty="0"/>
              <a:t>set up and scale international business using Singapore as an international gateway.</a:t>
            </a:r>
            <a:endParaRPr lang="en-US" sz="1600" dirty="0"/>
          </a:p>
        </p:txBody>
      </p:sp>
      <p:sp>
        <p:nvSpPr>
          <p:cNvPr id="15" name="Title 2">
            <a:extLst>
              <a:ext uri="{FF2B5EF4-FFF2-40B4-BE49-F238E27FC236}">
                <a16:creationId xmlns:a16="http://schemas.microsoft.com/office/drawing/2014/main" id="{C6F24550-D8F6-4E7A-804C-6DC559CC0A8B}"/>
              </a:ext>
            </a:extLst>
          </p:cNvPr>
          <p:cNvSpPr txBox="1">
            <a:spLocks/>
          </p:cNvSpPr>
          <p:nvPr/>
        </p:nvSpPr>
        <p:spPr bwMode="auto">
          <a:xfrm>
            <a:off x="-364827" y="3231542"/>
            <a:ext cx="2838734" cy="49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defTabSz="608013" rtl="0" eaLnBrk="0" fontAlgn="base" hangingPunct="0">
              <a:spcBef>
                <a:spcPct val="0"/>
              </a:spcBef>
              <a:spcAft>
                <a:spcPct val="0"/>
              </a:spcAft>
              <a:defRPr sz="5800" kern="1200">
                <a:solidFill>
                  <a:schemeClr val="tx1"/>
                </a:solidFill>
                <a:latin typeface="+mj-lt"/>
                <a:ea typeface="MS PGothic" panose="020B0600070205080204" pitchFamily="34" charset="-128"/>
                <a:cs typeface="ＭＳ Ｐゴシック" charset="0"/>
              </a:defRPr>
            </a:lvl1pPr>
            <a:lvl2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2pPr>
            <a:lvl3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3pPr>
            <a:lvl4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4pPr>
            <a:lvl5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5pPr>
            <a:lvl6pPr marL="4572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6pPr>
            <a:lvl7pPr marL="9144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7pPr>
            <a:lvl8pPr marL="13716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8pPr>
            <a:lvl9pPr marL="18288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9pPr>
          </a:lstStyle>
          <a:p>
            <a:pPr>
              <a:defRPr/>
            </a:pPr>
            <a:r>
              <a:rPr kumimoji="0" lang="en-US" altLang="zh-CN" sz="2000" b="1" i="0" u="none" strike="noStrike" kern="1200" cap="none" spc="0" normalizeH="0" baseline="0" noProof="0" dirty="0">
                <a:ln>
                  <a:noFill/>
                </a:ln>
                <a:effectLst/>
                <a:uLnTx/>
                <a:uFillTx/>
                <a:latin typeface="Calibri"/>
                <a:ea typeface="MS PGothic" panose="020B0600070205080204" pitchFamily="34" charset="-128"/>
              </a:rPr>
              <a:t>Isabella Lan</a:t>
            </a:r>
            <a:endParaRPr kumimoji="0" lang="en-US" sz="2000" b="1" i="0" u="none" strike="noStrike" kern="1200" cap="none" spc="0" normalizeH="0" baseline="0" noProof="0" dirty="0">
              <a:ln>
                <a:noFill/>
              </a:ln>
              <a:effectLst/>
              <a:uLnTx/>
              <a:uFillTx/>
              <a:latin typeface="Calibri"/>
              <a:ea typeface="MS PGothic" panose="020B0600070205080204" pitchFamily="34" charset="-128"/>
            </a:endParaRPr>
          </a:p>
        </p:txBody>
      </p:sp>
      <p:sp>
        <p:nvSpPr>
          <p:cNvPr id="9" name="TextBox 8">
            <a:extLst>
              <a:ext uri="{FF2B5EF4-FFF2-40B4-BE49-F238E27FC236}">
                <a16:creationId xmlns:a16="http://schemas.microsoft.com/office/drawing/2014/main" id="{06E1EACE-0978-2D42-94DD-B3942B6951E2}"/>
              </a:ext>
            </a:extLst>
          </p:cNvPr>
          <p:cNvSpPr txBox="1"/>
          <p:nvPr/>
        </p:nvSpPr>
        <p:spPr>
          <a:xfrm>
            <a:off x="0" y="4008438"/>
            <a:ext cx="2211754" cy="671915"/>
          </a:xfrm>
          <a:prstGeom prst="rect">
            <a:avLst/>
          </a:prstGeom>
          <a:noFill/>
        </p:spPr>
        <p:txBody>
          <a:bodyPr wrap="square">
            <a:spAutoFit/>
          </a:bodyPr>
          <a:lstStyle/>
          <a:p>
            <a:pPr>
              <a:lnSpc>
                <a:spcPct val="107000"/>
              </a:lnSpc>
              <a:spcAft>
                <a:spcPts val="800"/>
              </a:spcAft>
            </a:pPr>
            <a:r>
              <a:rPr lang="en-SG" sz="1800" u="sng" kern="100" dirty="0">
                <a:solidFill>
                  <a:srgbClr val="0563C1"/>
                </a:solidFill>
                <a:effectLst/>
                <a:latin typeface="Calibri" panose="020F0502020204030204" pitchFamily="34" charset="0"/>
                <a:ea typeface="DengXian" panose="02010600030101010101" pitchFamily="2" charset="-122"/>
                <a:cs typeface="Times New Roman" panose="02020603050405020304" pitchFamily="18" charset="0"/>
                <a:hlinkClick r:id="rId2"/>
              </a:rPr>
              <a:t>https://www.linkedin.com/in/isabellalan/</a:t>
            </a: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F1C4E12E-D9B2-51C3-E5B6-DFCD1E7004FA}"/>
              </a:ext>
            </a:extLst>
          </p:cNvPr>
          <p:cNvSpPr txBox="1"/>
          <p:nvPr/>
        </p:nvSpPr>
        <p:spPr>
          <a:xfrm>
            <a:off x="4163379" y="167734"/>
            <a:ext cx="6293222" cy="646331"/>
          </a:xfrm>
          <a:prstGeom prst="rect">
            <a:avLst/>
          </a:prstGeom>
          <a:noFill/>
        </p:spPr>
        <p:txBody>
          <a:bodyPr wrap="square">
            <a:spAutoFit/>
          </a:bodyPr>
          <a:lstStyle/>
          <a:p>
            <a:pPr algn="ctr"/>
            <a:r>
              <a:rPr lang="en-GB" b="1" dirty="0">
                <a:solidFill>
                  <a:srgbClr val="002060"/>
                </a:solidFill>
                <a:latin typeface="Calibri" panose="020F0502020204030204" pitchFamily="34" charset="0"/>
              </a:rPr>
              <a:t>FORTUNE 500 &amp; </a:t>
            </a:r>
            <a:r>
              <a:rPr lang="en-GB" b="1" dirty="0">
                <a:solidFill>
                  <a:srgbClr val="000000"/>
                </a:solidFill>
                <a:latin typeface="Calibri" panose="020F0502020204030204" pitchFamily="34" charset="0"/>
              </a:rPr>
              <a:t>ENTREPRENEURIAL </a:t>
            </a:r>
            <a:r>
              <a:rPr lang="en-US" b="1" dirty="0">
                <a:solidFill>
                  <a:srgbClr val="000000"/>
                </a:solidFill>
                <a:latin typeface="Calibri" panose="020F0502020204030204" pitchFamily="34" charset="0"/>
              </a:rPr>
              <a:t>LEADER</a:t>
            </a:r>
          </a:p>
          <a:p>
            <a:pPr algn="ctr"/>
            <a:r>
              <a:rPr lang="en-US" b="1">
                <a:solidFill>
                  <a:srgbClr val="000000"/>
                </a:solidFill>
                <a:latin typeface="Calibri" panose="020F0502020204030204" pitchFamily="34" charset="0"/>
              </a:rPr>
              <a:t>Finance</a:t>
            </a:r>
            <a:r>
              <a:rPr lang="en-US" b="1" dirty="0">
                <a:solidFill>
                  <a:srgbClr val="000000"/>
                </a:solidFill>
                <a:latin typeface="Calibri" panose="020F0502020204030204" pitchFamily="34" charset="0"/>
              </a:rPr>
              <a:t>, Strategy, Transformation</a:t>
            </a:r>
            <a:endParaRPr lang="en-SG" dirty="0">
              <a:solidFill>
                <a:srgbClr val="002060"/>
              </a:solidFill>
            </a:endParaRPr>
          </a:p>
        </p:txBody>
      </p:sp>
      <p:pic>
        <p:nvPicPr>
          <p:cNvPr id="3" name="Picture 2">
            <a:extLst>
              <a:ext uri="{FF2B5EF4-FFF2-40B4-BE49-F238E27FC236}">
                <a16:creationId xmlns:a16="http://schemas.microsoft.com/office/drawing/2014/main" id="{90255892-E49C-784A-3010-EFE18CF126E7}"/>
              </a:ext>
            </a:extLst>
          </p:cNvPr>
          <p:cNvPicPr>
            <a:picLocks noChangeAspect="1"/>
          </p:cNvPicPr>
          <p:nvPr/>
        </p:nvPicPr>
        <p:blipFill>
          <a:blip r:embed="rId3"/>
          <a:stretch>
            <a:fillRect/>
          </a:stretch>
        </p:blipFill>
        <p:spPr>
          <a:xfrm>
            <a:off x="72086" y="200034"/>
            <a:ext cx="2267909" cy="2969009"/>
          </a:xfrm>
          <a:prstGeom prst="rect">
            <a:avLst/>
          </a:prstGeom>
        </p:spPr>
      </p:pic>
    </p:spTree>
    <p:extLst>
      <p:ext uri="{BB962C8B-B14F-4D97-AF65-F5344CB8AC3E}">
        <p14:creationId xmlns:p14="http://schemas.microsoft.com/office/powerpoint/2010/main" val="3400848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74460</TotalTime>
  <Words>1113</Words>
  <Application>Microsoft Office PowerPoint</Application>
  <PresentationFormat>Widescreen</PresentationFormat>
  <Paragraphs>195</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Söhne</vt:lpstr>
      <vt:lpstr>Arial</vt:lpstr>
      <vt:lpstr>Calibri</vt:lpstr>
      <vt:lpstr>Calibri Light</vt:lpstr>
      <vt:lpstr>Corbel</vt:lpstr>
      <vt:lpstr>Verdana</vt:lpstr>
      <vt:lpstr>Office Theme</vt:lpstr>
      <vt:lpstr>logo</vt:lpstr>
      <vt:lpstr>About us</vt:lpstr>
      <vt:lpstr>PowerPoint Presentation</vt:lpstr>
      <vt:lpstr>PowerPoint Presentation</vt:lpstr>
      <vt:lpstr>These are companies I’ve worked with as senior international leader – CFO, Regional Finance Director, Regional Strategy Lead, Transformation lead,, company director,, various committee chairman and member. Please advise how best to display these on the website – as experience or companies we’ve worked with, or credibility of global leading companies (Mostly) and growing SMEs (- only 3: Kingfisher, Navitas, JCS)</vt:lpstr>
      <vt:lpstr>These are clients my other partner has worked with</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Sally Long</dc:creator>
  <cp:lastModifiedBy>Isa Lan</cp:lastModifiedBy>
  <cp:revision>812</cp:revision>
  <dcterms:created xsi:type="dcterms:W3CDTF">2016-01-31T09:35:46Z</dcterms:created>
  <dcterms:modified xsi:type="dcterms:W3CDTF">2026-02-21T16:30:10Z</dcterms:modified>
</cp:coreProperties>
</file>