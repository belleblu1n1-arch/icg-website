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78" r:id="rId2"/>
    <p:sldId id="71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7FF"/>
    <a:srgbClr val="DAEDFE"/>
    <a:srgbClr val="273C18"/>
    <a:srgbClr val="2E471D"/>
    <a:srgbClr val="DEF4FE"/>
    <a:srgbClr val="D6EBFE"/>
    <a:srgbClr val="E2F7FE"/>
    <a:srgbClr val="CCECFF"/>
    <a:srgbClr val="DEEDFE"/>
    <a:srgbClr val="DD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51" y="31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custSel modSld">
      <pc:chgData name="Isa Lan" userId="945ba5853d06cfb5" providerId="LiveId" clId="{4BF6D3D9-5CF5-48F0-AB96-70EE9B74F7F8}" dt="2026-03-16T03:37:15.664" v="246" actId="6549"/>
      <pc:docMkLst>
        <pc:docMk/>
      </pc:docMkLst>
      <pc:sldChg chg="modSp mod">
        <pc:chgData name="Isa Lan" userId="945ba5853d06cfb5" providerId="LiveId" clId="{4BF6D3D9-5CF5-48F0-AB96-70EE9B74F7F8}" dt="2026-03-16T03:37:15.664" v="246" actId="6549"/>
        <pc:sldMkLst>
          <pc:docMk/>
          <pc:sldMk cId="2136731619" sldId="678"/>
        </pc:sldMkLst>
        <pc:spChg chg="mod">
          <ac:chgData name="Isa Lan" userId="945ba5853d06cfb5" providerId="LiveId" clId="{4BF6D3D9-5CF5-48F0-AB96-70EE9B74F7F8}" dt="2026-03-16T03:37:15.664" v="246" actId="6549"/>
          <ac:spMkLst>
            <pc:docMk/>
            <pc:sldMk cId="2136731619" sldId="678"/>
            <ac:spMk id="21" creationId="{86F535BD-8344-85CC-8904-A02FD3A41B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0BFF-6FB8-DA46-BF12-7CEF393FB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BE9FB-A937-46DC-14C6-66C10902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2CB10-4DA7-3AF9-46CA-C1EF7F83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250DC-652F-0B42-8406-42E567B3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7952-73A6-DC33-1119-C9F04D16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768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A9EC-9AC5-8570-78CF-736404D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94E53-A0A3-C54D-701A-4C01D1B20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BEA8-62C6-523A-E862-CC11962F6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E09F-D6EA-1350-4AB0-0C48CA39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F0B0-895E-B37A-C638-6719575C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69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C97F-F48E-F61C-D838-2BD4ECEB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9E543-19DF-D9EC-FA6A-A4D22496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DB36F-6BC6-B9F2-8C18-C5E9869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75FA6-5C89-BC11-29A4-8B0C253E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94D93-1C0D-DAD2-2780-10870C2B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958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CAA5-161A-7E9B-25CB-6A5D1F61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2524-A539-959C-3894-FF27A755E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6EC54-7A57-9115-F9FF-074993F3C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DB192-BF55-167F-33FC-EFB55013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F7982-7CD5-99DA-676B-FBFF244D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874CB-5986-8A2C-0048-92BE342B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967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728C-9C7E-E91F-C889-75576979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E14DE-5A24-CA66-E7AD-77B06D9BB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D041E-CD93-70BC-A98B-201A01754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04181-4F43-F889-F82A-D4CCFE89B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5B587-3410-4723-F865-8974F4441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F4405-2817-8C14-11C8-8FD722A0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26EDA-9821-5402-39F7-AA428409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D3FCB-3679-CE9F-DA63-8F00B463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670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33B-63CF-FCF6-F934-453A74EA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85320-7E80-FEF7-67FD-54F2EE41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46286-6851-C947-8090-66CD4F2D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9F5D8-C6DB-BE53-FB92-8F58839E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349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B55E8-58CC-3C64-9505-575D2CA6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99935-EFA7-9F41-20B6-9299E9CE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67E45-100D-0871-E96E-BEAAF4CA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589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0C1DA-29BF-DF2A-88D4-DC971D7F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2002-9C72-4D75-74E7-B917292C3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8AC33-B855-B97D-C8C1-9D868BB7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51577-E754-98FC-8A0E-1507D1C5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CB181-CB23-7815-D123-C455EC73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890A2-04E0-F777-BBCD-F1C68BEB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93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552A-B568-CA35-516F-D37B319D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FF647-1651-DCF1-E606-2B3678D69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3F74-5CDC-B4E7-9591-EE39C97E9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40C77-F128-C34E-A85E-1EF416AB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D3E79-6DCB-091F-6C07-F9CDE62C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77C95-D5CA-2C5E-110F-20CFC1D6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735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DFE6-3B91-7270-2EF2-6AC5E64B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8E96F-5DD4-0A51-3978-7B988A195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80952-AB84-C9F2-2895-914E7325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C9D8C-9F8D-EDDD-3C89-C9673C4A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DE35D-9E09-63B6-4718-831171EC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860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02E7E-6972-05BA-975D-A5A7B1AE0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7EB26-CF7E-1E30-F384-51F8C752E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71732-A447-2D93-B4C6-88911589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238A8-A2BC-0CD9-9F36-32CE2F96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86BED-DADA-9F8A-99F9-47194CB7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849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717A7-7CFF-166D-3AE6-3334C17F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7B50-E76A-16A1-D982-F0796B4B5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3DF76-0BC1-68C1-DE78-CCA33138C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7B77D-7CEE-4D4A-9322-A1F49BECF6AD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8260F-FD8F-8ECD-6EB9-C64149DA3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59B07-549A-0804-8F45-6DB3A6C3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B0030-4756-4D54-BC01-495F7BF04E6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720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www.linkedin.com/in/isabellalan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2661C-BF22-5A32-BEB8-F106F6A1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>
            <a:extLst>
              <a:ext uri="{FF2B5EF4-FFF2-40B4-BE49-F238E27FC236}">
                <a16:creationId xmlns:a16="http://schemas.microsoft.com/office/drawing/2014/main" id="{B118B6A6-08D9-4344-4B07-9DDD6B285243}"/>
              </a:ext>
            </a:extLst>
          </p:cNvPr>
          <p:cNvSpPr txBox="1">
            <a:spLocks/>
          </p:cNvSpPr>
          <p:nvPr/>
        </p:nvSpPr>
        <p:spPr bwMode="auto">
          <a:xfrm>
            <a:off x="-112199" y="69803"/>
            <a:ext cx="2838734" cy="497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608013" rtl="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608013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34A1BC-57D2-6DA1-1DE9-869030C8B0E8}"/>
              </a:ext>
            </a:extLst>
          </p:cNvPr>
          <p:cNvSpPr txBox="1"/>
          <p:nvPr/>
        </p:nvSpPr>
        <p:spPr>
          <a:xfrm>
            <a:off x="0" y="5802712"/>
            <a:ext cx="2156460" cy="939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SG" sz="1400" u="sng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https://www.linkedin.com/in/isabellalan/</a:t>
            </a:r>
            <a:endParaRPr lang="en-SG" sz="1400" u="sng" kern="100" dirty="0">
              <a:solidFill>
                <a:srgbClr val="7030A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SG" sz="16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C9166-F7C8-CDB5-30E8-00972B11B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121" y="5987394"/>
            <a:ext cx="1685983" cy="814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835516-2A38-05FD-302C-5E1C2BF4A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735" y="5946178"/>
            <a:ext cx="1396365" cy="8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B892EB66-41F1-5085-F67A-B604432FD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327" y="6049263"/>
            <a:ext cx="1515956" cy="78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9">
            <a:extLst>
              <a:ext uri="{FF2B5EF4-FFF2-40B4-BE49-F238E27FC236}">
                <a16:creationId xmlns:a16="http://schemas.microsoft.com/office/drawing/2014/main" id="{1A1B888C-364E-DFA5-49B1-A5E67A6F2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140" y="5991853"/>
            <a:ext cx="1566534" cy="7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3CFB80-9782-E668-0497-A53B436F8B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482" y="5902036"/>
            <a:ext cx="1517591" cy="944023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E5296EA0-5C39-7526-0DC1-C3A6FAF3C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917" y="201008"/>
            <a:ext cx="9144000" cy="434470"/>
          </a:xfrm>
        </p:spPr>
        <p:txBody>
          <a:bodyPr>
            <a:normAutofit/>
          </a:bodyPr>
          <a:lstStyle/>
          <a:p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FORTUNE 500 Strategic CFO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0E46F-CD65-415D-4BB3-9E135A6BD3B1}"/>
              </a:ext>
            </a:extLst>
          </p:cNvPr>
          <p:cNvSpPr txBox="1"/>
          <p:nvPr/>
        </p:nvSpPr>
        <p:spPr>
          <a:xfrm>
            <a:off x="2307504" y="640161"/>
            <a:ext cx="9747405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Finance, Strategy, Transformation, Operational Excellence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EFBB1B-0988-28CE-22F3-AEB86610A1CB}"/>
              </a:ext>
            </a:extLst>
          </p:cNvPr>
          <p:cNvSpPr txBox="1"/>
          <p:nvPr/>
        </p:nvSpPr>
        <p:spPr>
          <a:xfrm>
            <a:off x="-165467" y="2737534"/>
            <a:ext cx="286586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MS PGothic" panose="020B0600070205080204" pitchFamily="34" charset="-128"/>
              </a:rPr>
              <a:t>Isabella Lan</a:t>
            </a:r>
          </a:p>
          <a:p>
            <a:pPr algn="ctr"/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MS PGothic" panose="020B0600070205080204" pitchFamily="34" charset="-128"/>
            </a:endParaRPr>
          </a:p>
          <a:p>
            <a:pPr algn="ctr"/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</a:rPr>
              <a:t>Isabella Lan</a:t>
            </a:r>
          </a:p>
          <a:p>
            <a:pPr algn="ctr"/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</a:rPr>
              <a:t>Lan.isabella@gmail.com</a:t>
            </a:r>
          </a:p>
          <a:p>
            <a:pPr algn="ctr"/>
            <a:endParaRPr lang="en-GB" sz="1600" dirty="0"/>
          </a:p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C92DF-B786-1ABE-A171-F27C2FA48A31}"/>
              </a:ext>
            </a:extLst>
          </p:cNvPr>
          <p:cNvSpPr txBox="1"/>
          <p:nvPr/>
        </p:nvSpPr>
        <p:spPr>
          <a:xfrm>
            <a:off x="22985" y="5461636"/>
            <a:ext cx="1349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/>
              <a:t>Linkedin</a:t>
            </a:r>
            <a:r>
              <a:rPr lang="en-US" altLang="zh-CN" sz="1400" dirty="0"/>
              <a:t> profile </a:t>
            </a:r>
            <a:endParaRPr lang="en-SG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AB4F1C-3108-EA84-DC90-6A047BC4461E}"/>
              </a:ext>
            </a:extLst>
          </p:cNvPr>
          <p:cNvCxnSpPr/>
          <p:nvPr/>
        </p:nvCxnSpPr>
        <p:spPr>
          <a:xfrm>
            <a:off x="2412082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F535BD-8344-85CC-8904-A02FD3A41B61}"/>
              </a:ext>
            </a:extLst>
          </p:cNvPr>
          <p:cNvSpPr txBox="1"/>
          <p:nvPr/>
        </p:nvSpPr>
        <p:spPr>
          <a:xfrm>
            <a:off x="2501296" y="1048286"/>
            <a:ext cx="9885361" cy="512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altLang="zh-C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Fortune 500 leadership </a:t>
            </a:r>
            <a:r>
              <a:rPr lang="en-SG" altLang="zh-C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(Microsoft, Diageo, Energizer, BAT, Boston Scientific, Avery Dennison)</a:t>
            </a:r>
            <a:r>
              <a:rPr lang="en-US" altLang="zh-CN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SG" altLang="zh-C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6 regions spanning over 40 markets (6 regions: APAC, MEA, GCR, SEA, Australasia, Emerging Markets). 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SG" altLang="zh-C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full-spectrum Finance, Strategy, Transformation, </a:t>
            </a:r>
            <a:r>
              <a:rPr lang="en-SG" altLang="zh-CN"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Development</a:t>
            </a:r>
            <a:r>
              <a:rPr lang="en-SG" altLang="zh-C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Governance. </a:t>
            </a:r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Drove </a:t>
            </a:r>
            <a:r>
              <a:rPr lang="en-GB" sz="1500" dirty="0"/>
              <a:t>profitable growth, turnarounds, market expansion, operational &amp; process excellence, capability development, collaborating with diverse teams and stakeholders globally.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SG" altLang="zh-C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P&amp;L Responsibility , revenue up to USD $6b </a:t>
            </a:r>
          </a:p>
          <a:p>
            <a:pPr>
              <a:spcBef>
                <a:spcPts val="600"/>
              </a:spcBef>
              <a:defRPr/>
            </a:pPr>
            <a:endParaRPr lang="en-SG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SG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Entrepreneurial Agility: </a:t>
            </a:r>
          </a:p>
          <a:p>
            <a:pPr marL="266700" indent="-266700">
              <a:lnSpc>
                <a:spcPct val="107000"/>
              </a:lnSpc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full-cycle consulting and provide in-house leadership, partnering with global teams to scale business, guide strategies and execution, and build operational structure and capability.</a:t>
            </a:r>
          </a:p>
          <a:p>
            <a:pPr>
              <a:spcBef>
                <a:spcPts val="600"/>
              </a:spcBef>
              <a:defRPr/>
            </a:pPr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SG" sz="1500" b="1" dirty="0"/>
              <a:t>Strategic execution &amp; Collaborative Impact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 strategies and executions to deliver performance targets and long-term sustainable growth.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GB" sz="1500" dirty="0"/>
              <a:t>Collaborate with and influence C-suite and cross-cultural stakeholders to align and drive priorities.</a:t>
            </a:r>
          </a:p>
          <a:p>
            <a:pPr marL="0" marR="0" lvl="0" indent="0" fontAlgn="auto">
              <a:lnSpc>
                <a:spcPct val="107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sz="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fontAlgn="auto">
              <a:lnSpc>
                <a:spcPct val="107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 Expert and Strong Network: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SG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Multilingual (Mandarin, Cantonese, English, Bahasa Indonesia) with on-the-ground experience in multiple APAC markets.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SG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global network and cultural fluency to</a:t>
            </a:r>
            <a:r>
              <a:rPr lang="en-GB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foster collaboration and build strategic alliances.</a:t>
            </a:r>
            <a:endParaRPr lang="en-SG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defRPr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DFAF9DF2-B441-92C5-4CBE-7FF01CFE5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C5BED8-0F66-D2C2-1179-A034EE7DDF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3396" y="5906962"/>
            <a:ext cx="1440890" cy="89508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2BBFB-52C6-711F-1100-12C9FF03D0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4" y="69803"/>
            <a:ext cx="2261812" cy="30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3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24C4-3BEB-D6FA-190E-1EA5943C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8" y="120947"/>
            <a:ext cx="10515600" cy="1070078"/>
          </a:xfrm>
        </p:spPr>
        <p:txBody>
          <a:bodyPr>
            <a:normAutofit/>
          </a:bodyPr>
          <a:lstStyle/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CAREER OVERVIEW</a:t>
            </a:r>
            <a:b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Leadership in Finance, Strategy, Transformation, Governance, Consulting</a:t>
            </a:r>
            <a:b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SG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071DD980-E890-89B6-7987-A176995C4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118" y="19602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>
              <a:noFill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7F625-50E2-96FF-6A4D-991612C65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102" y="992221"/>
            <a:ext cx="4817890" cy="1992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F6A9D-97CB-489D-844F-85A6FDE0F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9" y="992221"/>
            <a:ext cx="6470255" cy="57448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374A43-C449-76C9-3EB4-8A5121AEB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523" y="3117941"/>
            <a:ext cx="4764101" cy="361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9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33698</TotalTime>
  <Words>248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CAREER OVERVIEW Leadership in Finance, Strategy, Transformation, Governance, Consulting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Isabella Lan</dc:creator>
  <cp:lastModifiedBy>Isa Lan</cp:lastModifiedBy>
  <cp:revision>14</cp:revision>
  <dcterms:created xsi:type="dcterms:W3CDTF">2024-01-04T17:47:12Z</dcterms:created>
  <dcterms:modified xsi:type="dcterms:W3CDTF">2026-03-16T03:37:21Z</dcterms:modified>
</cp:coreProperties>
</file>